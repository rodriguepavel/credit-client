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DBBF1D-DB3C-4A27-9BA8-A1292392AAD9}" v="2" dt="2026-05-20T20:14:31.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86"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Donald TCHINDA" userId="1f9eef72b40220c9" providerId="LiveId" clId="{5F597945-9A20-4BB2-992C-F292A2CC02E0}"/>
    <pc:docChg chg="custSel modSld">
      <pc:chgData name="Chris Donald TCHINDA" userId="1f9eef72b40220c9" providerId="LiveId" clId="{5F597945-9A20-4BB2-992C-F292A2CC02E0}" dt="2026-05-20T20:15:19.498" v="108" actId="20577"/>
      <pc:docMkLst>
        <pc:docMk/>
      </pc:docMkLst>
      <pc:sldChg chg="modSp mod">
        <pc:chgData name="Chris Donald TCHINDA" userId="1f9eef72b40220c9" providerId="LiveId" clId="{5F597945-9A20-4BB2-992C-F292A2CC02E0}" dt="2026-05-20T19:51:49.508" v="13" actId="20577"/>
        <pc:sldMkLst>
          <pc:docMk/>
          <pc:sldMk cId="0" sldId="256"/>
        </pc:sldMkLst>
        <pc:spChg chg="mod">
          <ac:chgData name="Chris Donald TCHINDA" userId="1f9eef72b40220c9" providerId="LiveId" clId="{5F597945-9A20-4BB2-992C-F292A2CC02E0}" dt="2026-05-20T19:51:49.508" v="13" actId="20577"/>
          <ac:spMkLst>
            <pc:docMk/>
            <pc:sldMk cId="0" sldId="256"/>
            <ac:spMk id="5" creationId="{00000000-0000-0000-0000-000000000000}"/>
          </ac:spMkLst>
        </pc:spChg>
      </pc:sldChg>
      <pc:sldChg chg="modSp">
        <pc:chgData name="Chris Donald TCHINDA" userId="1f9eef72b40220c9" providerId="LiveId" clId="{5F597945-9A20-4BB2-992C-F292A2CC02E0}" dt="2026-05-20T20:11:43.452" v="100"/>
        <pc:sldMkLst>
          <pc:docMk/>
          <pc:sldMk cId="0" sldId="258"/>
        </pc:sldMkLst>
        <pc:spChg chg="mod">
          <ac:chgData name="Chris Donald TCHINDA" userId="1f9eef72b40220c9" providerId="LiveId" clId="{5F597945-9A20-4BB2-992C-F292A2CC02E0}" dt="2026-05-20T20:11:43.452" v="100"/>
          <ac:spMkLst>
            <pc:docMk/>
            <pc:sldMk cId="0" sldId="258"/>
            <ac:spMk id="5" creationId="{00000000-0000-0000-0000-000000000000}"/>
          </ac:spMkLst>
        </pc:spChg>
      </pc:sldChg>
      <pc:sldChg chg="addSp delSp modSp mod">
        <pc:chgData name="Chris Donald TCHINDA" userId="1f9eef72b40220c9" providerId="LiveId" clId="{5F597945-9A20-4BB2-992C-F292A2CC02E0}" dt="2026-05-20T19:56:18.745" v="17" actId="1076"/>
        <pc:sldMkLst>
          <pc:docMk/>
          <pc:sldMk cId="0" sldId="261"/>
        </pc:sldMkLst>
        <pc:graphicFrameChg chg="del">
          <ac:chgData name="Chris Donald TCHINDA" userId="1f9eef72b40220c9" providerId="LiveId" clId="{5F597945-9A20-4BB2-992C-F292A2CC02E0}" dt="2026-05-20T19:55:36.944" v="14" actId="478"/>
          <ac:graphicFrameMkLst>
            <pc:docMk/>
            <pc:sldMk cId="0" sldId="261"/>
            <ac:graphicFrameMk id="4" creationId="{00000000-0000-0000-0000-000000000000}"/>
          </ac:graphicFrameMkLst>
        </pc:graphicFrameChg>
        <pc:picChg chg="add mod">
          <ac:chgData name="Chris Donald TCHINDA" userId="1f9eef72b40220c9" providerId="LiveId" clId="{5F597945-9A20-4BB2-992C-F292A2CC02E0}" dt="2026-05-20T19:56:18.745" v="17" actId="1076"/>
          <ac:picMkLst>
            <pc:docMk/>
            <pc:sldMk cId="0" sldId="261"/>
            <ac:picMk id="9" creationId="{B53A1F1F-A60D-9CDE-A7A3-9A7C1CDB726F}"/>
          </ac:picMkLst>
        </pc:picChg>
      </pc:sldChg>
      <pc:sldChg chg="modSp mod">
        <pc:chgData name="Chris Donald TCHINDA" userId="1f9eef72b40220c9" providerId="LiveId" clId="{5F597945-9A20-4BB2-992C-F292A2CC02E0}" dt="2026-05-20T20:00:58.213" v="18" actId="14100"/>
        <pc:sldMkLst>
          <pc:docMk/>
          <pc:sldMk cId="0" sldId="266"/>
        </pc:sldMkLst>
        <pc:spChg chg="mod">
          <ac:chgData name="Chris Donald TCHINDA" userId="1f9eef72b40220c9" providerId="LiveId" clId="{5F597945-9A20-4BB2-992C-F292A2CC02E0}" dt="2026-05-20T20:00:58.213" v="18" actId="14100"/>
          <ac:spMkLst>
            <pc:docMk/>
            <pc:sldMk cId="0" sldId="266"/>
            <ac:spMk id="5" creationId="{00000000-0000-0000-0000-000000000000}"/>
          </ac:spMkLst>
        </pc:spChg>
      </pc:sldChg>
      <pc:sldChg chg="modSp mod">
        <pc:chgData name="Chris Donald TCHINDA" userId="1f9eef72b40220c9" providerId="LiveId" clId="{5F597945-9A20-4BB2-992C-F292A2CC02E0}" dt="2026-05-20T20:15:19.498" v="108" actId="20577"/>
        <pc:sldMkLst>
          <pc:docMk/>
          <pc:sldMk cId="0" sldId="269"/>
        </pc:sldMkLst>
        <pc:spChg chg="mod">
          <ac:chgData name="Chris Donald TCHINDA" userId="1f9eef72b40220c9" providerId="LiveId" clId="{5F597945-9A20-4BB2-992C-F292A2CC02E0}" dt="2026-05-20T20:15:19.498" v="108" actId="20577"/>
          <ac:spMkLst>
            <pc:docMk/>
            <pc:sldMk cId="0" sldId="269"/>
            <ac:spMk id="18" creationId="{00000000-0000-0000-0000-000000000000}"/>
          </ac:spMkLst>
        </pc:spChg>
      </pc:sldChg>
      <pc:sldChg chg="modSp mod">
        <pc:chgData name="Chris Donald TCHINDA" userId="1f9eef72b40220c9" providerId="LiveId" clId="{5F597945-9A20-4BB2-992C-F292A2CC02E0}" dt="2026-05-20T20:03:30.822" v="99" actId="20577"/>
        <pc:sldMkLst>
          <pc:docMk/>
          <pc:sldMk cId="0" sldId="272"/>
        </pc:sldMkLst>
        <pc:spChg chg="mod">
          <ac:chgData name="Chris Donald TCHINDA" userId="1f9eef72b40220c9" providerId="LiveId" clId="{5F597945-9A20-4BB2-992C-F292A2CC02E0}" dt="2026-05-20T20:03:03.361" v="40" actId="20577"/>
          <ac:spMkLst>
            <pc:docMk/>
            <pc:sldMk cId="0" sldId="272"/>
            <ac:spMk id="4" creationId="{00000000-0000-0000-0000-000000000000}"/>
          </ac:spMkLst>
        </pc:spChg>
        <pc:spChg chg="mod">
          <ac:chgData name="Chris Donald TCHINDA" userId="1f9eef72b40220c9" providerId="LiveId" clId="{5F597945-9A20-4BB2-992C-F292A2CC02E0}" dt="2026-05-20T20:03:30.822" v="99" actId="20577"/>
          <ac:spMkLst>
            <pc:docMk/>
            <pc:sldMk cId="0" sldId="272"/>
            <ac:spMk id="5"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Validation PR-AUC (%, higher is better)</a:t>
            </a:r>
          </a:p>
        </c:rich>
      </c:tx>
      <c:overlay val="0"/>
    </c:title>
    <c:autoTitleDeleted val="0"/>
    <c:plotArea>
      <c:layout/>
      <c:barChart>
        <c:barDir val="col"/>
        <c:grouping val="clustered"/>
        <c:varyColors val="0"/>
        <c:ser>
          <c:idx val="0"/>
          <c:order val="0"/>
          <c:tx>
            <c:strRef>
              <c:f>Sheet1!$B$1</c:f>
              <c:strCache>
                <c:ptCount val="1"/>
                <c:pt idx="0">
                  <c:v>PR-AUC x 100</c:v>
                </c:pt>
              </c:strCache>
            </c:strRef>
          </c:tx>
          <c:spPr>
            <a:solidFill>
              <a:srgbClr val="3B82F6"/>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CatBoost
Plain</c:v>
                </c:pt>
                <c:pt idx="1">
                  <c:v>LightGBM
Balanced</c:v>
                </c:pt>
                <c:pt idx="2">
                  <c:v>CatBoost
Sqrt Bal.</c:v>
                </c:pt>
                <c:pt idx="3">
                  <c:v>XGBoost
Weighted</c:v>
                </c:pt>
                <c:pt idx="4">
                  <c:v>CatBoost
Balanced</c:v>
                </c:pt>
                <c:pt idx="5">
                  <c:v>Random
Forest</c:v>
                </c:pt>
                <c:pt idx="6">
                  <c:v>Hist GB
Balanced</c:v>
                </c:pt>
                <c:pt idx="7">
                  <c:v>Logistic
L2 Bal.</c:v>
                </c:pt>
                <c:pt idx="8">
                  <c:v>Logistic
L2</c:v>
                </c:pt>
                <c:pt idx="9">
                  <c:v>Dummy</c:v>
                </c:pt>
              </c:strCache>
            </c:strRef>
          </c:cat>
          <c:val>
            <c:numRef>
              <c:f>Sheet1!$B$2:$B$11</c:f>
              <c:numCache>
                <c:formatCode>General</c:formatCode>
                <c:ptCount val="10"/>
                <c:pt idx="0">
                  <c:v>57.9</c:v>
                </c:pt>
                <c:pt idx="1">
                  <c:v>57.5</c:v>
                </c:pt>
                <c:pt idx="2">
                  <c:v>57.4</c:v>
                </c:pt>
                <c:pt idx="3">
                  <c:v>57.2</c:v>
                </c:pt>
                <c:pt idx="4">
                  <c:v>57.1</c:v>
                </c:pt>
                <c:pt idx="5">
                  <c:v>56.9</c:v>
                </c:pt>
                <c:pt idx="6">
                  <c:v>56.8</c:v>
                </c:pt>
                <c:pt idx="7">
                  <c:v>56.6</c:v>
                </c:pt>
                <c:pt idx="8">
                  <c:v>56.6</c:v>
                </c:pt>
                <c:pt idx="9">
                  <c:v>22.1</c:v>
                </c:pt>
              </c:numCache>
            </c:numRef>
          </c:val>
          <c:extLst>
            <c:ext xmlns:c16="http://schemas.microsoft.com/office/drawing/2014/chart" uri="{C3380CC4-5D6E-409C-BE32-E72D297353CC}">
              <c16:uniqueId val="{00000000-7E6A-444C-A68E-9C1958DF881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3B82F6"/>
            </a:solidFill>
            <a:effectLst/>
          </c:spPr>
          <c:invertIfNegative val="0"/>
          <c:dLbls>
            <c:numFmt formatCode="#,##0" sourceLinked="0"/>
            <c:spPr>
              <a:noFill/>
              <a:ln>
                <a:noFill/>
              </a:ln>
              <a:effectLst/>
            </c:spPr>
            <c:txPr>
              <a:bodyPr/>
              <a:lstStyle/>
              <a:p>
                <a:pPr>
                  <a:defRPr sz="10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recent_delay_status</c:v>
                </c:pt>
                <c:pt idx="1">
                  <c:v>max_delay_status</c:v>
                </c:pt>
                <c:pt idx="2">
                  <c:v>mean_positive_delay</c:v>
                </c:pt>
                <c:pt idx="3">
                  <c:v>LIMIT_BAL</c:v>
                </c:pt>
                <c:pt idx="4">
                  <c:v>delinquency_months</c:v>
                </c:pt>
                <c:pt idx="5">
                  <c:v>BILL_AMT1</c:v>
                </c:pt>
                <c:pt idx="6">
                  <c:v>severe_delinquency_months</c:v>
                </c:pt>
                <c:pt idx="7">
                  <c:v>PAY_AMT1</c:v>
                </c:pt>
                <c:pt idx="8">
                  <c:v>PAY_0_category</c:v>
                </c:pt>
                <c:pt idx="9">
                  <c:v>total_payment_amount</c:v>
                </c:pt>
              </c:strCache>
            </c:strRef>
          </c:cat>
          <c:val>
            <c:numRef>
              <c:f>Sheet1!$B$2:$B$11</c:f>
              <c:numCache>
                <c:formatCode>General</c:formatCode>
                <c:ptCount val="10"/>
                <c:pt idx="0">
                  <c:v>15</c:v>
                </c:pt>
                <c:pt idx="1">
                  <c:v>5</c:v>
                </c:pt>
                <c:pt idx="2">
                  <c:v>4.2</c:v>
                </c:pt>
                <c:pt idx="3">
                  <c:v>4</c:v>
                </c:pt>
                <c:pt idx="4">
                  <c:v>3.7</c:v>
                </c:pt>
                <c:pt idx="5">
                  <c:v>3.6</c:v>
                </c:pt>
                <c:pt idx="6">
                  <c:v>3.2</c:v>
                </c:pt>
                <c:pt idx="7">
                  <c:v>3.1</c:v>
                </c:pt>
                <c:pt idx="8">
                  <c:v>2.7</c:v>
                </c:pt>
                <c:pt idx="9">
                  <c:v>2.2999999999999998</c:v>
                </c:pt>
              </c:numCache>
            </c:numRef>
          </c:val>
          <c:extLst>
            <c:ext xmlns:c16="http://schemas.microsoft.com/office/drawing/2014/chart" uri="{C3380CC4-5D6E-409C-BE32-E72D297353CC}">
              <c16:uniqueId val="{00000000-6895-4437-A24B-D01C6A362F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050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109728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Credit Default Risk Scoring</a:t>
            </a:r>
            <a:endParaRPr lang="en-US" sz="4000" dirty="0"/>
          </a:p>
        </p:txBody>
      </p:sp>
      <p:sp>
        <p:nvSpPr>
          <p:cNvPr id="4" name="Text 2"/>
          <p:cNvSpPr/>
          <p:nvPr/>
        </p:nvSpPr>
        <p:spPr>
          <a:xfrm>
            <a:off x="731520" y="2286000"/>
            <a:ext cx="7680960" cy="548640"/>
          </a:xfrm>
          <a:prstGeom prst="rect">
            <a:avLst/>
          </a:prstGeom>
          <a:noFill/>
          <a:ln/>
        </p:spPr>
        <p:txBody>
          <a:bodyPr wrap="square" lIns="0" tIns="0" rIns="0" bIns="0" rtlCol="0" anchor="ctr"/>
          <a:lstStyle/>
          <a:p>
            <a:pPr marL="0" indent="0">
              <a:buNone/>
            </a:pPr>
            <a:r>
              <a:rPr lang="en-US" sz="1800" dirty="0">
                <a:solidFill>
                  <a:srgbClr val="DBEAFE"/>
                </a:solidFill>
                <a:latin typeface="Calibri" pitchFamily="34" charset="0"/>
                <a:ea typeface="Calibri" pitchFamily="34" charset="-122"/>
                <a:cs typeface="Calibri" pitchFamily="34" charset="-120"/>
              </a:rPr>
              <a:t>Building a credit loan score from the UCI credit card default dataset</a:t>
            </a:r>
            <a:endParaRPr lang="en-US" sz="1800" dirty="0"/>
          </a:p>
        </p:txBody>
      </p:sp>
      <p:sp>
        <p:nvSpPr>
          <p:cNvPr id="5" name="Text 3"/>
          <p:cNvSpPr/>
          <p:nvPr/>
        </p:nvSpPr>
        <p:spPr>
          <a:xfrm>
            <a:off x="731520" y="3474720"/>
            <a:ext cx="3657600" cy="457200"/>
          </a:xfrm>
          <a:prstGeom prst="rect">
            <a:avLst/>
          </a:prstGeom>
          <a:noFill/>
          <a:ln/>
        </p:spPr>
        <p:txBody>
          <a:bodyPr wrap="square" lIns="0" tIns="0" rIns="0" bIns="0" rtlCol="0" anchor="ctr"/>
          <a:lstStyle/>
          <a:p>
            <a:pPr marL="0" indent="0">
              <a:buNone/>
            </a:pPr>
            <a:r>
              <a:rPr lang="en-US" sz="1600" dirty="0">
                <a:solidFill>
                  <a:srgbClr val="DBEAFE"/>
                </a:solidFill>
                <a:latin typeface="Calibri" pitchFamily="34" charset="0"/>
                <a:ea typeface="Calibri" pitchFamily="34" charset="-122"/>
                <a:cs typeface="Calibri" pitchFamily="34" charset="-120"/>
              </a:rPr>
              <a:t>Chris </a:t>
            </a:r>
            <a:r>
              <a:rPr lang="en-US" sz="1600" dirty="0" err="1">
                <a:solidFill>
                  <a:srgbClr val="DBEAFE"/>
                </a:solidFill>
                <a:latin typeface="Calibri" pitchFamily="34" charset="0"/>
                <a:ea typeface="Calibri" pitchFamily="34" charset="-122"/>
                <a:cs typeface="Calibri" pitchFamily="34" charset="-120"/>
              </a:rPr>
              <a:t>Tchinda</a:t>
            </a:r>
            <a:endParaRPr lang="en-US" sz="1600" dirty="0"/>
          </a:p>
        </p:txBody>
      </p:sp>
      <p:sp>
        <p:nvSpPr>
          <p:cNvPr id="6" name="Text 4"/>
          <p:cNvSpPr/>
          <p:nvPr/>
        </p:nvSpPr>
        <p:spPr>
          <a:xfrm>
            <a:off x="731520" y="3931920"/>
            <a:ext cx="3657600" cy="365760"/>
          </a:xfrm>
          <a:prstGeom prst="rect">
            <a:avLst/>
          </a:prstGeom>
          <a:noFill/>
          <a:ln/>
        </p:spPr>
        <p:txBody>
          <a:bodyPr wrap="square" lIns="0" tIns="0" rIns="0" bIns="0" rtlCol="0" anchor="ctr"/>
          <a:lstStyle/>
          <a:p>
            <a:pPr marL="0" indent="0">
              <a:buNone/>
            </a:pPr>
            <a:r>
              <a:rPr lang="en-US" sz="1400" dirty="0">
                <a:solidFill>
                  <a:srgbClr val="DBEAFE"/>
                </a:solidFill>
                <a:latin typeface="Calibri" pitchFamily="34" charset="0"/>
                <a:ea typeface="Calibri" pitchFamily="34" charset="-122"/>
                <a:cs typeface="Calibri" pitchFamily="34" charset="-120"/>
              </a:rPr>
              <a:t>May 2026</a:t>
            </a:r>
            <a:endParaRPr lang="en-US" sz="1400" dirty="0"/>
          </a:p>
        </p:txBody>
      </p:sp>
      <p:sp>
        <p:nvSpPr>
          <p:cNvPr id="7" name="Shape 5"/>
          <p:cNvSpPr/>
          <p:nvPr/>
        </p:nvSpPr>
        <p:spPr>
          <a:xfrm>
            <a:off x="0" y="5088636"/>
            <a:ext cx="9144000" cy="54864"/>
          </a:xfrm>
          <a:prstGeom prst="rect">
            <a:avLst/>
          </a:prstGeom>
          <a:solidFill>
            <a:srgbClr val="3B82F6"/>
          </a:solidFill>
          <a:ln/>
        </p:spPr>
        <p:txBody>
          <a:bodyPr/>
          <a:lstStyle/>
          <a:p>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600" b="1" dirty="0">
                <a:solidFill>
                  <a:srgbClr val="1B2A4A"/>
                </a:solidFill>
                <a:latin typeface="Georgia" pitchFamily="34" charset="0"/>
                <a:ea typeface="Georgia" pitchFamily="34" charset="-122"/>
                <a:cs typeface="Georgia" pitchFamily="34" charset="-120"/>
              </a:rPr>
              <a:t>Agenda</a:t>
            </a:r>
            <a:endParaRPr lang="en-US" sz="3600" dirty="0"/>
          </a:p>
        </p:txBody>
      </p:sp>
      <p:sp>
        <p:nvSpPr>
          <p:cNvPr id="4" name="Shape 2"/>
          <p:cNvSpPr/>
          <p:nvPr/>
        </p:nvSpPr>
        <p:spPr>
          <a:xfrm>
            <a:off x="731520" y="1188720"/>
            <a:ext cx="365760" cy="365760"/>
          </a:xfrm>
          <a:prstGeom prst="ellipse">
            <a:avLst/>
          </a:prstGeom>
          <a:solidFill>
            <a:srgbClr val="3B82F6"/>
          </a:solidFill>
          <a:ln/>
        </p:spPr>
        <p:txBody>
          <a:bodyPr/>
          <a:lstStyle/>
          <a:p>
            <a:endParaRPr lang="fr-FR"/>
          </a:p>
        </p:txBody>
      </p:sp>
      <p:sp>
        <p:nvSpPr>
          <p:cNvPr id="5" name="Text 3"/>
          <p:cNvSpPr/>
          <p:nvPr/>
        </p:nvSpPr>
        <p:spPr>
          <a:xfrm>
            <a:off x="731520" y="11887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280160" y="1170432"/>
            <a:ext cx="2743200" cy="2286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Problem &amp; Dataset</a:t>
            </a:r>
            <a:endParaRPr lang="en-US" sz="1500" dirty="0"/>
          </a:p>
        </p:txBody>
      </p:sp>
      <p:sp>
        <p:nvSpPr>
          <p:cNvPr id="7" name="Text 5"/>
          <p:cNvSpPr/>
          <p:nvPr/>
        </p:nvSpPr>
        <p:spPr>
          <a:xfrm>
            <a:off x="1280160" y="1389888"/>
            <a:ext cx="6858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What we are trying to solve and the data we use</a:t>
            </a:r>
            <a:endParaRPr lang="en-US" sz="1100" dirty="0"/>
          </a:p>
        </p:txBody>
      </p:sp>
      <p:sp>
        <p:nvSpPr>
          <p:cNvPr id="8" name="Shape 6"/>
          <p:cNvSpPr/>
          <p:nvPr/>
        </p:nvSpPr>
        <p:spPr>
          <a:xfrm>
            <a:off x="731520" y="1719072"/>
            <a:ext cx="365760" cy="365760"/>
          </a:xfrm>
          <a:prstGeom prst="ellipse">
            <a:avLst/>
          </a:prstGeom>
          <a:solidFill>
            <a:srgbClr val="3B82F6"/>
          </a:solidFill>
          <a:ln/>
        </p:spPr>
        <p:txBody>
          <a:bodyPr/>
          <a:lstStyle/>
          <a:p>
            <a:endParaRPr lang="fr-FR"/>
          </a:p>
        </p:txBody>
      </p:sp>
      <p:sp>
        <p:nvSpPr>
          <p:cNvPr id="9" name="Text 7"/>
          <p:cNvSpPr/>
          <p:nvPr/>
        </p:nvSpPr>
        <p:spPr>
          <a:xfrm>
            <a:off x="731520" y="1719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280160" y="1700784"/>
            <a:ext cx="2743200" cy="2286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Exploratory Analysis</a:t>
            </a:r>
            <a:endParaRPr lang="en-US" sz="1500" dirty="0"/>
          </a:p>
        </p:txBody>
      </p:sp>
      <p:sp>
        <p:nvSpPr>
          <p:cNvPr id="11" name="Text 9"/>
          <p:cNvSpPr/>
          <p:nvPr/>
        </p:nvSpPr>
        <p:spPr>
          <a:xfrm>
            <a:off x="1280160" y="1920240"/>
            <a:ext cx="6858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Key patterns in repayment, utilization, and demographics</a:t>
            </a:r>
            <a:endParaRPr lang="en-US" sz="1100" dirty="0"/>
          </a:p>
        </p:txBody>
      </p:sp>
      <p:sp>
        <p:nvSpPr>
          <p:cNvPr id="12" name="Shape 10"/>
          <p:cNvSpPr/>
          <p:nvPr/>
        </p:nvSpPr>
        <p:spPr>
          <a:xfrm>
            <a:off x="731520" y="2249424"/>
            <a:ext cx="365760" cy="365760"/>
          </a:xfrm>
          <a:prstGeom prst="ellipse">
            <a:avLst/>
          </a:prstGeom>
          <a:solidFill>
            <a:srgbClr val="3B82F6"/>
          </a:solidFill>
          <a:ln/>
        </p:spPr>
        <p:txBody>
          <a:bodyPr/>
          <a:lstStyle/>
          <a:p>
            <a:endParaRPr lang="fr-FR"/>
          </a:p>
        </p:txBody>
      </p:sp>
      <p:sp>
        <p:nvSpPr>
          <p:cNvPr id="13" name="Text 11"/>
          <p:cNvSpPr/>
          <p:nvPr/>
        </p:nvSpPr>
        <p:spPr>
          <a:xfrm>
            <a:off x="731520" y="224942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1280160" y="2231136"/>
            <a:ext cx="2743200" cy="2286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Data Cleaning &amp; Features</a:t>
            </a:r>
            <a:endParaRPr lang="en-US" sz="1500" dirty="0"/>
          </a:p>
        </p:txBody>
      </p:sp>
      <p:sp>
        <p:nvSpPr>
          <p:cNvPr id="15" name="Text 13"/>
          <p:cNvSpPr/>
          <p:nvPr/>
        </p:nvSpPr>
        <p:spPr>
          <a:xfrm>
            <a:off x="1280160" y="2450592"/>
            <a:ext cx="6858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How we prepared the data and built risk signals</a:t>
            </a:r>
            <a:endParaRPr lang="en-US" sz="1100" dirty="0"/>
          </a:p>
        </p:txBody>
      </p:sp>
      <p:sp>
        <p:nvSpPr>
          <p:cNvPr id="16" name="Shape 14"/>
          <p:cNvSpPr/>
          <p:nvPr/>
        </p:nvSpPr>
        <p:spPr>
          <a:xfrm>
            <a:off x="731520" y="2779776"/>
            <a:ext cx="365760" cy="365760"/>
          </a:xfrm>
          <a:prstGeom prst="ellipse">
            <a:avLst/>
          </a:prstGeom>
          <a:solidFill>
            <a:srgbClr val="3B82F6"/>
          </a:solidFill>
          <a:ln/>
        </p:spPr>
        <p:txBody>
          <a:bodyPr/>
          <a:lstStyle/>
          <a:p>
            <a:endParaRPr lang="fr-FR"/>
          </a:p>
        </p:txBody>
      </p:sp>
      <p:sp>
        <p:nvSpPr>
          <p:cNvPr id="17" name="Text 15"/>
          <p:cNvSpPr/>
          <p:nvPr/>
        </p:nvSpPr>
        <p:spPr>
          <a:xfrm>
            <a:off x="731520" y="27797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8" name="Text 16"/>
          <p:cNvSpPr/>
          <p:nvPr/>
        </p:nvSpPr>
        <p:spPr>
          <a:xfrm>
            <a:off x="1280160" y="2761488"/>
            <a:ext cx="2743200" cy="2286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Modeling</a:t>
            </a:r>
            <a:endParaRPr lang="en-US" sz="1500" dirty="0"/>
          </a:p>
        </p:txBody>
      </p:sp>
      <p:sp>
        <p:nvSpPr>
          <p:cNvPr id="19" name="Text 17"/>
          <p:cNvSpPr/>
          <p:nvPr/>
        </p:nvSpPr>
        <p:spPr>
          <a:xfrm>
            <a:off x="1280160" y="2980944"/>
            <a:ext cx="6858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Comparing models and selecting the best one</a:t>
            </a:r>
            <a:endParaRPr lang="en-US" sz="1100" dirty="0"/>
          </a:p>
        </p:txBody>
      </p:sp>
      <p:sp>
        <p:nvSpPr>
          <p:cNvPr id="20" name="Shape 18"/>
          <p:cNvSpPr/>
          <p:nvPr/>
        </p:nvSpPr>
        <p:spPr>
          <a:xfrm>
            <a:off x="731520" y="3310128"/>
            <a:ext cx="365760" cy="365760"/>
          </a:xfrm>
          <a:prstGeom prst="ellipse">
            <a:avLst/>
          </a:prstGeom>
          <a:solidFill>
            <a:srgbClr val="3B82F6"/>
          </a:solidFill>
          <a:ln/>
        </p:spPr>
        <p:txBody>
          <a:bodyPr/>
          <a:lstStyle/>
          <a:p>
            <a:endParaRPr lang="fr-FR"/>
          </a:p>
        </p:txBody>
      </p:sp>
      <p:sp>
        <p:nvSpPr>
          <p:cNvPr id="21" name="Text 19"/>
          <p:cNvSpPr/>
          <p:nvPr/>
        </p:nvSpPr>
        <p:spPr>
          <a:xfrm>
            <a:off x="731520" y="331012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2" name="Text 20"/>
          <p:cNvSpPr/>
          <p:nvPr/>
        </p:nvSpPr>
        <p:spPr>
          <a:xfrm>
            <a:off x="1280160" y="3291840"/>
            <a:ext cx="2743200" cy="2286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Credit Score &amp; Risk Bands</a:t>
            </a:r>
            <a:endParaRPr lang="en-US" sz="1500" dirty="0"/>
          </a:p>
        </p:txBody>
      </p:sp>
      <p:sp>
        <p:nvSpPr>
          <p:cNvPr id="23" name="Text 21"/>
          <p:cNvSpPr/>
          <p:nvPr/>
        </p:nvSpPr>
        <p:spPr>
          <a:xfrm>
            <a:off x="1280160" y="3511296"/>
            <a:ext cx="6858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Turning probabilities into an actionable score</a:t>
            </a:r>
            <a:endParaRPr lang="en-US" sz="1100" dirty="0"/>
          </a:p>
        </p:txBody>
      </p:sp>
      <p:sp>
        <p:nvSpPr>
          <p:cNvPr id="24" name="Shape 22"/>
          <p:cNvSpPr/>
          <p:nvPr/>
        </p:nvSpPr>
        <p:spPr>
          <a:xfrm>
            <a:off x="731520" y="3840480"/>
            <a:ext cx="365760" cy="365760"/>
          </a:xfrm>
          <a:prstGeom prst="ellipse">
            <a:avLst/>
          </a:prstGeom>
          <a:solidFill>
            <a:srgbClr val="3B82F6"/>
          </a:solidFill>
          <a:ln/>
        </p:spPr>
        <p:txBody>
          <a:bodyPr/>
          <a:lstStyle/>
          <a:p>
            <a:endParaRPr lang="fr-FR"/>
          </a:p>
        </p:txBody>
      </p:sp>
      <p:sp>
        <p:nvSpPr>
          <p:cNvPr id="25" name="Text 23"/>
          <p:cNvSpPr/>
          <p:nvPr/>
        </p:nvSpPr>
        <p:spPr>
          <a:xfrm>
            <a:off x="731520" y="3840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6" name="Text 24"/>
          <p:cNvSpPr/>
          <p:nvPr/>
        </p:nvSpPr>
        <p:spPr>
          <a:xfrm>
            <a:off x="1280160" y="3822192"/>
            <a:ext cx="2743200" cy="2286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Calibration</a:t>
            </a:r>
            <a:endParaRPr lang="en-US" sz="1500" dirty="0"/>
          </a:p>
        </p:txBody>
      </p:sp>
      <p:sp>
        <p:nvSpPr>
          <p:cNvPr id="27" name="Text 25"/>
          <p:cNvSpPr/>
          <p:nvPr/>
        </p:nvSpPr>
        <p:spPr>
          <a:xfrm>
            <a:off x="1280160" y="4041648"/>
            <a:ext cx="6858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Making sure the probabilities are reliable</a:t>
            </a:r>
            <a:endParaRPr lang="en-US" sz="1100" dirty="0"/>
          </a:p>
        </p:txBody>
      </p:sp>
      <p:sp>
        <p:nvSpPr>
          <p:cNvPr id="28" name="Shape 26"/>
          <p:cNvSpPr/>
          <p:nvPr/>
        </p:nvSpPr>
        <p:spPr>
          <a:xfrm>
            <a:off x="731520" y="4370832"/>
            <a:ext cx="365760" cy="365760"/>
          </a:xfrm>
          <a:prstGeom prst="ellipse">
            <a:avLst/>
          </a:prstGeom>
          <a:solidFill>
            <a:srgbClr val="3B82F6"/>
          </a:solidFill>
          <a:ln/>
        </p:spPr>
        <p:txBody>
          <a:bodyPr/>
          <a:lstStyle/>
          <a:p>
            <a:endParaRPr lang="fr-FR"/>
          </a:p>
        </p:txBody>
      </p:sp>
      <p:sp>
        <p:nvSpPr>
          <p:cNvPr id="29" name="Text 27"/>
          <p:cNvSpPr/>
          <p:nvPr/>
        </p:nvSpPr>
        <p:spPr>
          <a:xfrm>
            <a:off x="731520" y="43708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0" name="Text 28"/>
          <p:cNvSpPr/>
          <p:nvPr/>
        </p:nvSpPr>
        <p:spPr>
          <a:xfrm>
            <a:off x="1280160" y="4352544"/>
            <a:ext cx="2743200" cy="2286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Results &amp; Takeaways</a:t>
            </a:r>
            <a:endParaRPr lang="en-US" sz="1500" dirty="0"/>
          </a:p>
        </p:txBody>
      </p:sp>
      <p:sp>
        <p:nvSpPr>
          <p:cNvPr id="31" name="Text 29"/>
          <p:cNvSpPr/>
          <p:nvPr/>
        </p:nvSpPr>
        <p:spPr>
          <a:xfrm>
            <a:off x="1280160" y="4572000"/>
            <a:ext cx="6858000" cy="2011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Final performance and what it means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600" b="1" dirty="0">
                <a:solidFill>
                  <a:srgbClr val="1B2A4A"/>
                </a:solidFill>
                <a:latin typeface="Georgia" pitchFamily="34" charset="0"/>
                <a:ea typeface="Georgia" pitchFamily="34" charset="-122"/>
                <a:cs typeface="Georgia" pitchFamily="34" charset="-120"/>
              </a:rPr>
              <a:t>Problem Statement</a:t>
            </a:r>
            <a:endParaRPr lang="en-US" sz="3600" dirty="0"/>
          </a:p>
        </p:txBody>
      </p:sp>
      <p:sp>
        <p:nvSpPr>
          <p:cNvPr id="4" name="Text 2"/>
          <p:cNvSpPr/>
          <p:nvPr/>
        </p:nvSpPr>
        <p:spPr>
          <a:xfrm>
            <a:off x="731520" y="1097280"/>
            <a:ext cx="731520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Goal</a:t>
            </a:r>
            <a:endParaRPr lang="en-US" sz="2000" dirty="0"/>
          </a:p>
        </p:txBody>
      </p:sp>
      <p:sp>
        <p:nvSpPr>
          <p:cNvPr id="5" name="Text 3"/>
          <p:cNvSpPr/>
          <p:nvPr/>
        </p:nvSpPr>
        <p:spPr>
          <a:xfrm>
            <a:off x="731520" y="1463040"/>
            <a:ext cx="7680960" cy="640080"/>
          </a:xfrm>
          <a:prstGeom prst="rect">
            <a:avLst/>
          </a:prstGeom>
          <a:noFill/>
          <a:ln/>
        </p:spPr>
        <p:txBody>
          <a:bodyPr wrap="square" lIns="0" tIns="0" rIns="0" bIns="0" rtlCol="0" anchor="ctr"/>
          <a:lstStyle/>
          <a:p>
            <a:r>
              <a:rPr lang="en-US" sz="1400" dirty="0">
                <a:solidFill>
                  <a:srgbClr val="1E293B"/>
                </a:solidFill>
                <a:latin typeface="Calibri" pitchFamily="34" charset="0"/>
                <a:ea typeface="Calibri" pitchFamily="34" charset="-122"/>
                <a:cs typeface="Calibri" pitchFamily="34" charset="-120"/>
              </a:rPr>
              <a:t>Build a credit loan score that predicts whether a client will default on their next payment. The score should be transparent, reliable, and </a:t>
            </a:r>
            <a:r>
              <a:rPr lang="en-US" sz="1400" dirty="0"/>
              <a:t>designed to support a simple approve / review / reject policy prototype</a:t>
            </a:r>
            <a:r>
              <a:rPr lang="en-US" sz="1400" dirty="0">
                <a:solidFill>
                  <a:srgbClr val="1E293B"/>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731520" y="2286000"/>
            <a:ext cx="731520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Why it matters</a:t>
            </a:r>
            <a:endParaRPr lang="en-US" sz="2000" dirty="0"/>
          </a:p>
        </p:txBody>
      </p:sp>
      <p:sp>
        <p:nvSpPr>
          <p:cNvPr id="7" name="Text 5"/>
          <p:cNvSpPr/>
          <p:nvPr/>
        </p:nvSpPr>
        <p:spPr>
          <a:xfrm>
            <a:off x="731520" y="2651760"/>
            <a:ext cx="7680960" cy="64008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 good credit score helps the bank decide who to lend to. It reduces losses from defaults while keeping the approval rate reasonable. The score needs calibrated probabilities so the bank can set thresholds based on their risk appetite.</a:t>
            </a:r>
            <a:endParaRPr lang="en-US" sz="1400" dirty="0"/>
          </a:p>
        </p:txBody>
      </p:sp>
      <p:sp>
        <p:nvSpPr>
          <p:cNvPr id="8" name="Text 6"/>
          <p:cNvSpPr/>
          <p:nvPr/>
        </p:nvSpPr>
        <p:spPr>
          <a:xfrm>
            <a:off x="731520" y="3474720"/>
            <a:ext cx="7315200" cy="36576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Approach</a:t>
            </a:r>
            <a:endParaRPr lang="en-US" sz="2000" dirty="0"/>
          </a:p>
        </p:txBody>
      </p:sp>
      <p:sp>
        <p:nvSpPr>
          <p:cNvPr id="9" name="Text 7"/>
          <p:cNvSpPr/>
          <p:nvPr/>
        </p:nvSpPr>
        <p:spPr>
          <a:xfrm>
            <a:off x="731520" y="3840480"/>
            <a:ext cx="7680960" cy="5486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Explore the data, clean it carefully, engineer features based on credit risk logic, compare several models, calibrate probabilities, and convert them into a score with risk bands.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600" b="1" dirty="0">
                <a:solidFill>
                  <a:srgbClr val="1B2A4A"/>
                </a:solidFill>
                <a:latin typeface="Georgia" pitchFamily="34" charset="0"/>
                <a:ea typeface="Georgia" pitchFamily="34" charset="-122"/>
                <a:cs typeface="Georgia" pitchFamily="34" charset="-120"/>
              </a:rPr>
              <a:t>Dataset Overview</a:t>
            </a:r>
            <a:endParaRPr lang="en-US" sz="3600" dirty="0"/>
          </a:p>
        </p:txBody>
      </p:sp>
      <p:sp>
        <p:nvSpPr>
          <p:cNvPr id="4" name="Shape 2"/>
          <p:cNvSpPr/>
          <p:nvPr/>
        </p:nvSpPr>
        <p:spPr>
          <a:xfrm>
            <a:off x="731520" y="1097280"/>
            <a:ext cx="1828800" cy="10972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5" name="Text 3"/>
          <p:cNvSpPr/>
          <p:nvPr/>
        </p:nvSpPr>
        <p:spPr>
          <a:xfrm>
            <a:off x="731520" y="1143000"/>
            <a:ext cx="1828800" cy="640080"/>
          </a:xfrm>
          <a:prstGeom prst="rect">
            <a:avLst/>
          </a:prstGeom>
          <a:noFill/>
          <a:ln/>
        </p:spPr>
        <p:txBody>
          <a:bodyPr wrap="square" lIns="0" tIns="0" rIns="0" bIns="0" rtlCol="0" anchor="ctr"/>
          <a:lstStyle/>
          <a:p>
            <a:pPr marL="0" indent="0" algn="ctr">
              <a:buNone/>
            </a:pPr>
            <a:r>
              <a:rPr lang="en-US" sz="2800" b="1" dirty="0">
                <a:solidFill>
                  <a:srgbClr val="3B82F6"/>
                </a:solidFill>
                <a:latin typeface="Georgia" pitchFamily="34" charset="0"/>
                <a:ea typeface="Georgia" pitchFamily="34" charset="-122"/>
                <a:cs typeface="Georgia" pitchFamily="34" charset="-120"/>
              </a:rPr>
              <a:t>30,000</a:t>
            </a:r>
            <a:endParaRPr lang="en-US" sz="2800" dirty="0"/>
          </a:p>
        </p:txBody>
      </p:sp>
      <p:sp>
        <p:nvSpPr>
          <p:cNvPr id="6" name="Text 4"/>
          <p:cNvSpPr/>
          <p:nvPr/>
        </p:nvSpPr>
        <p:spPr>
          <a:xfrm>
            <a:off x="731520" y="1783080"/>
            <a:ext cx="1828800" cy="32004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Clients</a:t>
            </a:r>
            <a:endParaRPr lang="en-US" sz="1200" dirty="0"/>
          </a:p>
        </p:txBody>
      </p:sp>
      <p:sp>
        <p:nvSpPr>
          <p:cNvPr id="7" name="Shape 5"/>
          <p:cNvSpPr/>
          <p:nvPr/>
        </p:nvSpPr>
        <p:spPr>
          <a:xfrm>
            <a:off x="2788920" y="1097280"/>
            <a:ext cx="1828800" cy="10972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8" name="Text 6"/>
          <p:cNvSpPr/>
          <p:nvPr/>
        </p:nvSpPr>
        <p:spPr>
          <a:xfrm>
            <a:off x="2788920" y="1143000"/>
            <a:ext cx="1828800" cy="640080"/>
          </a:xfrm>
          <a:prstGeom prst="rect">
            <a:avLst/>
          </a:prstGeom>
          <a:noFill/>
          <a:ln/>
        </p:spPr>
        <p:txBody>
          <a:bodyPr wrap="square" lIns="0" tIns="0" rIns="0" bIns="0" rtlCol="0" anchor="ctr"/>
          <a:lstStyle/>
          <a:p>
            <a:pPr marL="0" indent="0" algn="ctr">
              <a:buNone/>
            </a:pPr>
            <a:r>
              <a:rPr lang="en-US" sz="2800" b="1" dirty="0">
                <a:solidFill>
                  <a:srgbClr val="3B82F6"/>
                </a:solidFill>
                <a:latin typeface="Georgia" pitchFamily="34" charset="0"/>
                <a:ea typeface="Georgia" pitchFamily="34" charset="-122"/>
                <a:cs typeface="Georgia" pitchFamily="34" charset="-120"/>
              </a:rPr>
              <a:t>23</a:t>
            </a:r>
            <a:endParaRPr lang="en-US" sz="2800" dirty="0"/>
          </a:p>
        </p:txBody>
      </p:sp>
      <p:sp>
        <p:nvSpPr>
          <p:cNvPr id="9" name="Text 7"/>
          <p:cNvSpPr/>
          <p:nvPr/>
        </p:nvSpPr>
        <p:spPr>
          <a:xfrm>
            <a:off x="2788920" y="1783080"/>
            <a:ext cx="1828800" cy="32004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Features</a:t>
            </a:r>
            <a:endParaRPr lang="en-US" sz="1200" dirty="0"/>
          </a:p>
        </p:txBody>
      </p:sp>
      <p:sp>
        <p:nvSpPr>
          <p:cNvPr id="10" name="Shape 8"/>
          <p:cNvSpPr/>
          <p:nvPr/>
        </p:nvSpPr>
        <p:spPr>
          <a:xfrm>
            <a:off x="4846320" y="1097280"/>
            <a:ext cx="1828800" cy="10972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1" name="Text 9"/>
          <p:cNvSpPr/>
          <p:nvPr/>
        </p:nvSpPr>
        <p:spPr>
          <a:xfrm>
            <a:off x="4846320" y="1143000"/>
            <a:ext cx="1828800" cy="640080"/>
          </a:xfrm>
          <a:prstGeom prst="rect">
            <a:avLst/>
          </a:prstGeom>
          <a:noFill/>
          <a:ln/>
        </p:spPr>
        <p:txBody>
          <a:bodyPr wrap="square" lIns="0" tIns="0" rIns="0" bIns="0" rtlCol="0" anchor="ctr"/>
          <a:lstStyle/>
          <a:p>
            <a:pPr marL="0" indent="0" algn="ctr">
              <a:buNone/>
            </a:pPr>
            <a:r>
              <a:rPr lang="en-US" sz="2800" b="1" dirty="0">
                <a:solidFill>
                  <a:srgbClr val="3B82F6"/>
                </a:solidFill>
                <a:latin typeface="Georgia" pitchFamily="34" charset="0"/>
                <a:ea typeface="Georgia" pitchFamily="34" charset="-122"/>
                <a:cs typeface="Georgia" pitchFamily="34" charset="-120"/>
              </a:rPr>
              <a:t>22.1%</a:t>
            </a:r>
            <a:endParaRPr lang="en-US" sz="2800" dirty="0"/>
          </a:p>
        </p:txBody>
      </p:sp>
      <p:sp>
        <p:nvSpPr>
          <p:cNvPr id="12" name="Text 10"/>
          <p:cNvSpPr/>
          <p:nvPr/>
        </p:nvSpPr>
        <p:spPr>
          <a:xfrm>
            <a:off x="4846320" y="1783080"/>
            <a:ext cx="1828800" cy="32004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Default Rate</a:t>
            </a:r>
            <a:endParaRPr lang="en-US" sz="1200" dirty="0"/>
          </a:p>
        </p:txBody>
      </p:sp>
      <p:sp>
        <p:nvSpPr>
          <p:cNvPr id="13" name="Shape 11"/>
          <p:cNvSpPr/>
          <p:nvPr/>
        </p:nvSpPr>
        <p:spPr>
          <a:xfrm>
            <a:off x="6903720" y="1097280"/>
            <a:ext cx="1828800" cy="10972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4" name="Text 12"/>
          <p:cNvSpPr/>
          <p:nvPr/>
        </p:nvSpPr>
        <p:spPr>
          <a:xfrm>
            <a:off x="6903720" y="1143000"/>
            <a:ext cx="1828800" cy="640080"/>
          </a:xfrm>
          <a:prstGeom prst="rect">
            <a:avLst/>
          </a:prstGeom>
          <a:noFill/>
          <a:ln/>
        </p:spPr>
        <p:txBody>
          <a:bodyPr wrap="square" lIns="0" tIns="0" rIns="0" bIns="0" rtlCol="0" anchor="ctr"/>
          <a:lstStyle/>
          <a:p>
            <a:pPr marL="0" indent="0" algn="ctr">
              <a:buNone/>
            </a:pPr>
            <a:r>
              <a:rPr lang="en-US" sz="2800" b="1" dirty="0">
                <a:solidFill>
                  <a:srgbClr val="3B82F6"/>
                </a:solidFill>
                <a:latin typeface="Georgia" pitchFamily="34" charset="0"/>
                <a:ea typeface="Georgia" pitchFamily="34" charset="-122"/>
                <a:cs typeface="Georgia" pitchFamily="34" charset="-120"/>
              </a:rPr>
              <a:t>0</a:t>
            </a:r>
            <a:endParaRPr lang="en-US" sz="2800" dirty="0"/>
          </a:p>
        </p:txBody>
      </p:sp>
      <p:sp>
        <p:nvSpPr>
          <p:cNvPr id="15" name="Text 13"/>
          <p:cNvSpPr/>
          <p:nvPr/>
        </p:nvSpPr>
        <p:spPr>
          <a:xfrm>
            <a:off x="6903720" y="1783080"/>
            <a:ext cx="1828800" cy="32004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Missing Values</a:t>
            </a:r>
            <a:endParaRPr lang="en-US" sz="1200" dirty="0"/>
          </a:p>
        </p:txBody>
      </p:sp>
      <p:sp>
        <p:nvSpPr>
          <p:cNvPr id="16" name="Text 14"/>
          <p:cNvSpPr/>
          <p:nvPr/>
        </p:nvSpPr>
        <p:spPr>
          <a:xfrm>
            <a:off x="731520" y="2468880"/>
            <a:ext cx="7315200" cy="36576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Feature Groups</a:t>
            </a:r>
            <a:endParaRPr lang="en-US" sz="1800" dirty="0"/>
          </a:p>
        </p:txBody>
      </p:sp>
      <p:sp>
        <p:nvSpPr>
          <p:cNvPr id="17" name="Shape 15"/>
          <p:cNvSpPr/>
          <p:nvPr/>
        </p:nvSpPr>
        <p:spPr>
          <a:xfrm>
            <a:off x="731520" y="2926080"/>
            <a:ext cx="137160" cy="137160"/>
          </a:xfrm>
          <a:prstGeom prst="ellipse">
            <a:avLst/>
          </a:prstGeom>
          <a:solidFill>
            <a:srgbClr val="3B82F6"/>
          </a:solidFill>
          <a:ln/>
        </p:spPr>
        <p:txBody>
          <a:bodyPr/>
          <a:lstStyle/>
          <a:p>
            <a:endParaRPr lang="fr-FR"/>
          </a:p>
        </p:txBody>
      </p:sp>
      <p:sp>
        <p:nvSpPr>
          <p:cNvPr id="18" name="Text 16"/>
          <p:cNvSpPr/>
          <p:nvPr/>
        </p:nvSpPr>
        <p:spPr>
          <a:xfrm>
            <a:off x="1005840" y="2880360"/>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Credit Limit (X1)</a:t>
            </a:r>
            <a:endParaRPr lang="en-US" sz="1300" dirty="0"/>
          </a:p>
        </p:txBody>
      </p:sp>
      <p:sp>
        <p:nvSpPr>
          <p:cNvPr id="19" name="Text 17"/>
          <p:cNvSpPr/>
          <p:nvPr/>
        </p:nvSpPr>
        <p:spPr>
          <a:xfrm>
            <a:off x="3749040" y="2880360"/>
            <a:ext cx="502920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Total credit line including family supplementary credit</a:t>
            </a:r>
            <a:endParaRPr lang="en-US" sz="1200" dirty="0"/>
          </a:p>
        </p:txBody>
      </p:sp>
      <p:sp>
        <p:nvSpPr>
          <p:cNvPr id="20" name="Shape 18"/>
          <p:cNvSpPr/>
          <p:nvPr/>
        </p:nvSpPr>
        <p:spPr>
          <a:xfrm>
            <a:off x="731520" y="3273552"/>
            <a:ext cx="137160" cy="137160"/>
          </a:xfrm>
          <a:prstGeom prst="ellipse">
            <a:avLst/>
          </a:prstGeom>
          <a:solidFill>
            <a:srgbClr val="3B82F6"/>
          </a:solidFill>
          <a:ln/>
        </p:spPr>
        <p:txBody>
          <a:bodyPr/>
          <a:lstStyle/>
          <a:p>
            <a:endParaRPr lang="fr-FR"/>
          </a:p>
        </p:txBody>
      </p:sp>
      <p:sp>
        <p:nvSpPr>
          <p:cNvPr id="21" name="Text 19"/>
          <p:cNvSpPr/>
          <p:nvPr/>
        </p:nvSpPr>
        <p:spPr>
          <a:xfrm>
            <a:off x="1005840" y="3227832"/>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Demographics (X2-X5)</a:t>
            </a:r>
            <a:endParaRPr lang="en-US" sz="1300" dirty="0"/>
          </a:p>
        </p:txBody>
      </p:sp>
      <p:sp>
        <p:nvSpPr>
          <p:cNvPr id="22" name="Text 20"/>
          <p:cNvSpPr/>
          <p:nvPr/>
        </p:nvSpPr>
        <p:spPr>
          <a:xfrm>
            <a:off x="3749040" y="3227832"/>
            <a:ext cx="502920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Gender, education, marital status, age</a:t>
            </a:r>
            <a:endParaRPr lang="en-US" sz="1200" dirty="0"/>
          </a:p>
        </p:txBody>
      </p:sp>
      <p:sp>
        <p:nvSpPr>
          <p:cNvPr id="23" name="Shape 21"/>
          <p:cNvSpPr/>
          <p:nvPr/>
        </p:nvSpPr>
        <p:spPr>
          <a:xfrm>
            <a:off x="731520" y="3621024"/>
            <a:ext cx="137160" cy="137160"/>
          </a:xfrm>
          <a:prstGeom prst="ellipse">
            <a:avLst/>
          </a:prstGeom>
          <a:solidFill>
            <a:srgbClr val="3B82F6"/>
          </a:solidFill>
          <a:ln/>
        </p:spPr>
        <p:txBody>
          <a:bodyPr/>
          <a:lstStyle/>
          <a:p>
            <a:endParaRPr lang="fr-FR"/>
          </a:p>
        </p:txBody>
      </p:sp>
      <p:sp>
        <p:nvSpPr>
          <p:cNvPr id="24" name="Text 22"/>
          <p:cNvSpPr/>
          <p:nvPr/>
        </p:nvSpPr>
        <p:spPr>
          <a:xfrm>
            <a:off x="1005840" y="3575304"/>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Repayment History (X6-X11)</a:t>
            </a:r>
            <a:endParaRPr lang="en-US" sz="1300" dirty="0"/>
          </a:p>
        </p:txBody>
      </p:sp>
      <p:sp>
        <p:nvSpPr>
          <p:cNvPr id="25" name="Text 23"/>
          <p:cNvSpPr/>
          <p:nvPr/>
        </p:nvSpPr>
        <p:spPr>
          <a:xfrm>
            <a:off x="3749040" y="3575304"/>
            <a:ext cx="502920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Monthly repayment status from April to September 2005</a:t>
            </a:r>
            <a:endParaRPr lang="en-US" sz="1200" dirty="0"/>
          </a:p>
        </p:txBody>
      </p:sp>
      <p:sp>
        <p:nvSpPr>
          <p:cNvPr id="26" name="Shape 24"/>
          <p:cNvSpPr/>
          <p:nvPr/>
        </p:nvSpPr>
        <p:spPr>
          <a:xfrm>
            <a:off x="731520" y="3968496"/>
            <a:ext cx="137160" cy="137160"/>
          </a:xfrm>
          <a:prstGeom prst="ellipse">
            <a:avLst/>
          </a:prstGeom>
          <a:solidFill>
            <a:srgbClr val="3B82F6"/>
          </a:solidFill>
          <a:ln/>
        </p:spPr>
        <p:txBody>
          <a:bodyPr/>
          <a:lstStyle/>
          <a:p>
            <a:endParaRPr lang="fr-FR"/>
          </a:p>
        </p:txBody>
      </p:sp>
      <p:sp>
        <p:nvSpPr>
          <p:cNvPr id="27" name="Text 25"/>
          <p:cNvSpPr/>
          <p:nvPr/>
        </p:nvSpPr>
        <p:spPr>
          <a:xfrm>
            <a:off x="1005840" y="3922776"/>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Bill Amounts (X12-X17)</a:t>
            </a:r>
            <a:endParaRPr lang="en-US" sz="1300" dirty="0"/>
          </a:p>
        </p:txBody>
      </p:sp>
      <p:sp>
        <p:nvSpPr>
          <p:cNvPr id="28" name="Text 26"/>
          <p:cNvSpPr/>
          <p:nvPr/>
        </p:nvSpPr>
        <p:spPr>
          <a:xfrm>
            <a:off x="3749040" y="3922776"/>
            <a:ext cx="502920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Monthly bill statement amounts over the same 6 months</a:t>
            </a:r>
            <a:endParaRPr lang="en-US" sz="1200" dirty="0"/>
          </a:p>
        </p:txBody>
      </p:sp>
      <p:sp>
        <p:nvSpPr>
          <p:cNvPr id="29" name="Shape 27"/>
          <p:cNvSpPr/>
          <p:nvPr/>
        </p:nvSpPr>
        <p:spPr>
          <a:xfrm>
            <a:off x="731520" y="4315968"/>
            <a:ext cx="137160" cy="137160"/>
          </a:xfrm>
          <a:prstGeom prst="ellipse">
            <a:avLst/>
          </a:prstGeom>
          <a:solidFill>
            <a:srgbClr val="3B82F6"/>
          </a:solidFill>
          <a:ln/>
        </p:spPr>
        <p:txBody>
          <a:bodyPr/>
          <a:lstStyle/>
          <a:p>
            <a:endParaRPr lang="fr-FR"/>
          </a:p>
        </p:txBody>
      </p:sp>
      <p:sp>
        <p:nvSpPr>
          <p:cNvPr id="30" name="Text 28"/>
          <p:cNvSpPr/>
          <p:nvPr/>
        </p:nvSpPr>
        <p:spPr>
          <a:xfrm>
            <a:off x="1005840" y="4270248"/>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Payment Amounts (X18-X23)</a:t>
            </a:r>
            <a:endParaRPr lang="en-US" sz="1300" dirty="0"/>
          </a:p>
        </p:txBody>
      </p:sp>
      <p:sp>
        <p:nvSpPr>
          <p:cNvPr id="31" name="Text 29"/>
          <p:cNvSpPr/>
          <p:nvPr/>
        </p:nvSpPr>
        <p:spPr>
          <a:xfrm>
            <a:off x="3749040" y="4270248"/>
            <a:ext cx="502920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Monthly amounts paid over the same 6 months</a:t>
            </a:r>
            <a:endParaRPr lang="en-US" sz="1200" dirty="0"/>
          </a:p>
        </p:txBody>
      </p:sp>
      <p:sp>
        <p:nvSpPr>
          <p:cNvPr id="32" name="Shape 30"/>
          <p:cNvSpPr/>
          <p:nvPr/>
        </p:nvSpPr>
        <p:spPr>
          <a:xfrm>
            <a:off x="731520" y="4663440"/>
            <a:ext cx="137160" cy="137160"/>
          </a:xfrm>
          <a:prstGeom prst="ellipse">
            <a:avLst/>
          </a:prstGeom>
          <a:solidFill>
            <a:srgbClr val="3B82F6"/>
          </a:solidFill>
          <a:ln/>
        </p:spPr>
        <p:txBody>
          <a:bodyPr/>
          <a:lstStyle/>
          <a:p>
            <a:endParaRPr lang="fr-FR"/>
          </a:p>
        </p:txBody>
      </p:sp>
      <p:sp>
        <p:nvSpPr>
          <p:cNvPr id="33" name="Text 31"/>
          <p:cNvSpPr/>
          <p:nvPr/>
        </p:nvSpPr>
        <p:spPr>
          <a:xfrm>
            <a:off x="1005840" y="4617720"/>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Target</a:t>
            </a:r>
            <a:endParaRPr lang="en-US" sz="1300" dirty="0"/>
          </a:p>
        </p:txBody>
      </p:sp>
      <p:sp>
        <p:nvSpPr>
          <p:cNvPr id="34" name="Text 32"/>
          <p:cNvSpPr/>
          <p:nvPr/>
        </p:nvSpPr>
        <p:spPr>
          <a:xfrm>
            <a:off x="3749040" y="4617720"/>
            <a:ext cx="502920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Binary default indicator (1 = default next month, 0 = no default)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Exploratory Analysis: Key Findings</a:t>
            </a:r>
            <a:endParaRPr lang="en-US" sz="3200" dirty="0"/>
          </a:p>
        </p:txBody>
      </p:sp>
      <p:sp>
        <p:nvSpPr>
          <p:cNvPr id="4" name="Shape 2"/>
          <p:cNvSpPr/>
          <p:nvPr/>
        </p:nvSpPr>
        <p:spPr>
          <a:xfrm>
            <a:off x="457200" y="1051560"/>
            <a:ext cx="402336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5" name="Shape 3"/>
          <p:cNvSpPr/>
          <p:nvPr/>
        </p:nvSpPr>
        <p:spPr>
          <a:xfrm>
            <a:off x="457200" y="1051560"/>
            <a:ext cx="54864" cy="1143000"/>
          </a:xfrm>
          <a:prstGeom prst="rect">
            <a:avLst/>
          </a:prstGeom>
          <a:solidFill>
            <a:srgbClr val="3B82F6"/>
          </a:solidFill>
          <a:ln/>
        </p:spPr>
        <p:txBody>
          <a:bodyPr/>
          <a:lstStyle/>
          <a:p>
            <a:endParaRPr lang="fr-FR"/>
          </a:p>
        </p:txBody>
      </p:sp>
      <p:sp>
        <p:nvSpPr>
          <p:cNvPr id="6" name="Text 4"/>
          <p:cNvSpPr/>
          <p:nvPr/>
        </p:nvSpPr>
        <p:spPr>
          <a:xfrm>
            <a:off x="640080" y="1124712"/>
            <a:ext cx="36576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Repayment Status is the #1 Signal</a:t>
            </a:r>
            <a:endParaRPr lang="en-US" sz="1300" dirty="0"/>
          </a:p>
        </p:txBody>
      </p:sp>
      <p:sp>
        <p:nvSpPr>
          <p:cNvPr id="7" name="Text 5"/>
          <p:cNvSpPr/>
          <p:nvPr/>
        </p:nvSpPr>
        <p:spPr>
          <a:xfrm>
            <a:off x="640080" y="1417320"/>
            <a:ext cx="36576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Clients with PAY_0 &gt;= 2 (two months late) have a 69% default rate vs. 13% for those who pay on time. This is the single strongest predictor.</a:t>
            </a:r>
            <a:endParaRPr lang="en-US" sz="1100" dirty="0"/>
          </a:p>
        </p:txBody>
      </p:sp>
      <p:sp>
        <p:nvSpPr>
          <p:cNvPr id="8" name="Shape 6"/>
          <p:cNvSpPr/>
          <p:nvPr/>
        </p:nvSpPr>
        <p:spPr>
          <a:xfrm>
            <a:off x="4846320" y="1051560"/>
            <a:ext cx="402336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9" name="Shape 7"/>
          <p:cNvSpPr/>
          <p:nvPr/>
        </p:nvSpPr>
        <p:spPr>
          <a:xfrm>
            <a:off x="4846320" y="1051560"/>
            <a:ext cx="54864" cy="1143000"/>
          </a:xfrm>
          <a:prstGeom prst="rect">
            <a:avLst/>
          </a:prstGeom>
          <a:solidFill>
            <a:srgbClr val="0D9488"/>
          </a:solidFill>
          <a:ln/>
        </p:spPr>
        <p:txBody>
          <a:bodyPr/>
          <a:lstStyle/>
          <a:p>
            <a:endParaRPr lang="fr-FR"/>
          </a:p>
        </p:txBody>
      </p:sp>
      <p:sp>
        <p:nvSpPr>
          <p:cNvPr id="10" name="Text 8"/>
          <p:cNvSpPr/>
          <p:nvPr/>
        </p:nvSpPr>
        <p:spPr>
          <a:xfrm>
            <a:off x="5029200" y="1124712"/>
            <a:ext cx="36576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Delinquency Frequency Matters</a:t>
            </a:r>
            <a:endParaRPr lang="en-US" sz="1300" dirty="0"/>
          </a:p>
        </p:txBody>
      </p:sp>
      <p:sp>
        <p:nvSpPr>
          <p:cNvPr id="11" name="Text 9"/>
          <p:cNvSpPr/>
          <p:nvPr/>
        </p:nvSpPr>
        <p:spPr>
          <a:xfrm>
            <a:off x="5029200" y="1417320"/>
            <a:ext cx="36576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Counting months with delays is more stable than just looking at the latest status. Clients with 6+ late months default at 70%.</a:t>
            </a:r>
            <a:endParaRPr lang="en-US" sz="1100" dirty="0"/>
          </a:p>
        </p:txBody>
      </p:sp>
      <p:sp>
        <p:nvSpPr>
          <p:cNvPr id="12" name="Shape 10"/>
          <p:cNvSpPr/>
          <p:nvPr/>
        </p:nvSpPr>
        <p:spPr>
          <a:xfrm>
            <a:off x="457200" y="2377440"/>
            <a:ext cx="402336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13" name="Shape 11"/>
          <p:cNvSpPr/>
          <p:nvPr/>
        </p:nvSpPr>
        <p:spPr>
          <a:xfrm>
            <a:off x="457200" y="2377440"/>
            <a:ext cx="54864" cy="1143000"/>
          </a:xfrm>
          <a:prstGeom prst="rect">
            <a:avLst/>
          </a:prstGeom>
          <a:solidFill>
            <a:srgbClr val="3B82F6"/>
          </a:solidFill>
          <a:ln/>
        </p:spPr>
        <p:txBody>
          <a:bodyPr/>
          <a:lstStyle/>
          <a:p>
            <a:endParaRPr lang="fr-FR"/>
          </a:p>
        </p:txBody>
      </p:sp>
      <p:sp>
        <p:nvSpPr>
          <p:cNvPr id="14" name="Text 12"/>
          <p:cNvSpPr/>
          <p:nvPr/>
        </p:nvSpPr>
        <p:spPr>
          <a:xfrm>
            <a:off x="640080" y="2450592"/>
            <a:ext cx="36576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Lower Credit Limits = Higher Risk</a:t>
            </a:r>
            <a:endParaRPr lang="en-US" sz="1300" dirty="0"/>
          </a:p>
        </p:txBody>
      </p:sp>
      <p:sp>
        <p:nvSpPr>
          <p:cNvPr id="15" name="Text 13"/>
          <p:cNvSpPr/>
          <p:nvPr/>
        </p:nvSpPr>
        <p:spPr>
          <a:xfrm>
            <a:off x="640080" y="2743200"/>
            <a:ext cx="36576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Clients in the bottom credit-limit decile default more often. The credit limit already encodes part of the bank's risk assessment.</a:t>
            </a:r>
            <a:endParaRPr lang="en-US" sz="1100" dirty="0"/>
          </a:p>
        </p:txBody>
      </p:sp>
      <p:sp>
        <p:nvSpPr>
          <p:cNvPr id="16" name="Shape 14"/>
          <p:cNvSpPr/>
          <p:nvPr/>
        </p:nvSpPr>
        <p:spPr>
          <a:xfrm>
            <a:off x="4846320" y="2377440"/>
            <a:ext cx="402336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17" name="Shape 15"/>
          <p:cNvSpPr/>
          <p:nvPr/>
        </p:nvSpPr>
        <p:spPr>
          <a:xfrm>
            <a:off x="4846320" y="2377440"/>
            <a:ext cx="54864" cy="1143000"/>
          </a:xfrm>
          <a:prstGeom prst="rect">
            <a:avLst/>
          </a:prstGeom>
          <a:solidFill>
            <a:srgbClr val="0D9488"/>
          </a:solidFill>
          <a:ln/>
        </p:spPr>
        <p:txBody>
          <a:bodyPr/>
          <a:lstStyle/>
          <a:p>
            <a:endParaRPr lang="fr-FR"/>
          </a:p>
        </p:txBody>
      </p:sp>
      <p:sp>
        <p:nvSpPr>
          <p:cNvPr id="18" name="Text 16"/>
          <p:cNvSpPr/>
          <p:nvPr/>
        </p:nvSpPr>
        <p:spPr>
          <a:xfrm>
            <a:off x="5029200" y="2450592"/>
            <a:ext cx="36576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22% Default Rate = Imbalanced</a:t>
            </a:r>
            <a:endParaRPr lang="en-US" sz="1300" dirty="0"/>
          </a:p>
        </p:txBody>
      </p:sp>
      <p:sp>
        <p:nvSpPr>
          <p:cNvPr id="19" name="Text 17"/>
          <p:cNvSpPr/>
          <p:nvPr/>
        </p:nvSpPr>
        <p:spPr>
          <a:xfrm>
            <a:off x="5029200" y="2743200"/>
            <a:ext cx="36576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Accuracy is misleading here. A dummy model that always predicts 'no default' gets 78% accuracy. We need PR-AUC, recall, and F1.</a:t>
            </a:r>
            <a:endParaRPr lang="en-US" sz="1100" dirty="0"/>
          </a:p>
        </p:txBody>
      </p:sp>
      <p:sp>
        <p:nvSpPr>
          <p:cNvPr id="20" name="Shape 18"/>
          <p:cNvSpPr/>
          <p:nvPr/>
        </p:nvSpPr>
        <p:spPr>
          <a:xfrm>
            <a:off x="457200" y="3703320"/>
            <a:ext cx="402336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21" name="Shape 19"/>
          <p:cNvSpPr/>
          <p:nvPr/>
        </p:nvSpPr>
        <p:spPr>
          <a:xfrm>
            <a:off x="457200" y="3703320"/>
            <a:ext cx="54864" cy="1143000"/>
          </a:xfrm>
          <a:prstGeom prst="rect">
            <a:avLst/>
          </a:prstGeom>
          <a:solidFill>
            <a:srgbClr val="3B82F6"/>
          </a:solidFill>
          <a:ln/>
        </p:spPr>
        <p:txBody>
          <a:bodyPr/>
          <a:lstStyle/>
          <a:p>
            <a:endParaRPr lang="fr-FR"/>
          </a:p>
        </p:txBody>
      </p:sp>
      <p:sp>
        <p:nvSpPr>
          <p:cNvPr id="22" name="Text 20"/>
          <p:cNvSpPr/>
          <p:nvPr/>
        </p:nvSpPr>
        <p:spPr>
          <a:xfrm>
            <a:off x="640080" y="3776472"/>
            <a:ext cx="36576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High Correlation Among Bills</a:t>
            </a:r>
            <a:endParaRPr lang="en-US" sz="1300" dirty="0"/>
          </a:p>
        </p:txBody>
      </p:sp>
      <p:sp>
        <p:nvSpPr>
          <p:cNvPr id="23" name="Text 21"/>
          <p:cNvSpPr/>
          <p:nvPr/>
        </p:nvSpPr>
        <p:spPr>
          <a:xfrm>
            <a:off x="640080" y="4069080"/>
            <a:ext cx="36576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Adjacent monthly bill amounts are correlated at 0.95 because balances roll over. This affects linear models and interpretation.</a:t>
            </a:r>
            <a:endParaRPr lang="en-US" sz="1100" dirty="0"/>
          </a:p>
        </p:txBody>
      </p:sp>
      <p:sp>
        <p:nvSpPr>
          <p:cNvPr id="24" name="Shape 22"/>
          <p:cNvSpPr/>
          <p:nvPr/>
        </p:nvSpPr>
        <p:spPr>
          <a:xfrm>
            <a:off x="4846320" y="3703320"/>
            <a:ext cx="402336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25" name="Shape 23"/>
          <p:cNvSpPr/>
          <p:nvPr/>
        </p:nvSpPr>
        <p:spPr>
          <a:xfrm>
            <a:off x="4846320" y="3703320"/>
            <a:ext cx="54864" cy="1143000"/>
          </a:xfrm>
          <a:prstGeom prst="rect">
            <a:avLst/>
          </a:prstGeom>
          <a:solidFill>
            <a:srgbClr val="0D9488"/>
          </a:solidFill>
          <a:ln/>
        </p:spPr>
        <p:txBody>
          <a:bodyPr/>
          <a:lstStyle/>
          <a:p>
            <a:endParaRPr lang="fr-FR"/>
          </a:p>
        </p:txBody>
      </p:sp>
      <p:sp>
        <p:nvSpPr>
          <p:cNvPr id="26" name="Text 24"/>
          <p:cNvSpPr/>
          <p:nvPr/>
        </p:nvSpPr>
        <p:spPr>
          <a:xfrm>
            <a:off x="5029200" y="3776472"/>
            <a:ext cx="36576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Undocumented Category Codes</a:t>
            </a:r>
            <a:endParaRPr lang="en-US" sz="1300" dirty="0"/>
          </a:p>
        </p:txBody>
      </p:sp>
      <p:sp>
        <p:nvSpPr>
          <p:cNvPr id="27" name="Text 25"/>
          <p:cNvSpPr/>
          <p:nvPr/>
        </p:nvSpPr>
        <p:spPr>
          <a:xfrm>
            <a:off x="5029200" y="4069080"/>
            <a:ext cx="365760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EDUCATION has 345 rows with codes outside 1-4, MARRIAGE has 54 rows outside 1-3. We group them as 'other/unknown' instead of dropping.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Default Rate by Repayment Status (PAY_0)</a:t>
            </a:r>
            <a:endParaRPr lang="en-US" sz="2800" dirty="0"/>
          </a:p>
        </p:txBody>
      </p:sp>
      <p:sp>
        <p:nvSpPr>
          <p:cNvPr id="5" name="Shape 2"/>
          <p:cNvSpPr/>
          <p:nvPr/>
        </p:nvSpPr>
        <p:spPr>
          <a:xfrm>
            <a:off x="5943600" y="1188720"/>
            <a:ext cx="2926080" cy="29260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6" name="Text 3"/>
          <p:cNvSpPr/>
          <p:nvPr/>
        </p:nvSpPr>
        <p:spPr>
          <a:xfrm>
            <a:off x="6126480" y="1325880"/>
            <a:ext cx="2560320" cy="32004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Key Insight</a:t>
            </a:r>
            <a:endParaRPr lang="en-US" sz="1600" dirty="0"/>
          </a:p>
        </p:txBody>
      </p:sp>
      <p:sp>
        <p:nvSpPr>
          <p:cNvPr id="7" name="Text 4"/>
          <p:cNvSpPr/>
          <p:nvPr/>
        </p:nvSpPr>
        <p:spPr>
          <a:xfrm>
            <a:off x="6126480" y="1691640"/>
            <a:ext cx="2560320" cy="21945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The most recent repayment status is the strongest single predictor of default. Clients who are 2+ months late have a default rate above 69%, compared to about 13% for those who pay on time.</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This motivated us to build aggregated repayment features (delinquency count, max delay, severe delinquency months) that capture this signal in a more stable way.</a:t>
            </a:r>
            <a:endParaRPr lang="en-US" sz="1100" dirty="0"/>
          </a:p>
        </p:txBody>
      </p:sp>
      <p:pic>
        <p:nvPicPr>
          <p:cNvPr id="9" name="Image 8">
            <a:extLst>
              <a:ext uri="{FF2B5EF4-FFF2-40B4-BE49-F238E27FC236}">
                <a16:creationId xmlns:a16="http://schemas.microsoft.com/office/drawing/2014/main" id="{B53A1F1F-A60D-9CDE-A7A3-9A7C1CDB726F}"/>
              </a:ext>
            </a:extLst>
          </p:cNvPr>
          <p:cNvPicPr>
            <a:picLocks noChangeAspect="1"/>
          </p:cNvPicPr>
          <p:nvPr/>
        </p:nvPicPr>
        <p:blipFill>
          <a:blip r:embed="rId3"/>
          <a:stretch>
            <a:fillRect/>
          </a:stretch>
        </p:blipFill>
        <p:spPr>
          <a:xfrm>
            <a:off x="710357" y="914400"/>
            <a:ext cx="4980087" cy="36577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Data Cleaning &amp; Preparation</a:t>
            </a:r>
            <a:endParaRPr lang="en-US" sz="3200" dirty="0"/>
          </a:p>
        </p:txBody>
      </p:sp>
      <p:sp>
        <p:nvSpPr>
          <p:cNvPr id="4" name="Text 2"/>
          <p:cNvSpPr/>
          <p:nvPr/>
        </p:nvSpPr>
        <p:spPr>
          <a:xfrm>
            <a:off x="731520" y="914400"/>
            <a:ext cx="7680960" cy="36576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Our cleaning philosophy: keep all 30,000 rows and preserve information, not throw it away.</a:t>
            </a:r>
            <a:endParaRPr lang="en-US" sz="1400" dirty="0"/>
          </a:p>
        </p:txBody>
      </p:sp>
      <p:sp>
        <p:nvSpPr>
          <p:cNvPr id="5" name="Shape 3"/>
          <p:cNvSpPr/>
          <p:nvPr/>
        </p:nvSpPr>
        <p:spPr>
          <a:xfrm>
            <a:off x="731520" y="1417320"/>
            <a:ext cx="54864" cy="566928"/>
          </a:xfrm>
          <a:prstGeom prst="rect">
            <a:avLst/>
          </a:prstGeom>
          <a:solidFill>
            <a:srgbClr val="3B82F6"/>
          </a:solidFill>
          <a:ln/>
        </p:spPr>
        <p:txBody>
          <a:bodyPr/>
          <a:lstStyle/>
          <a:p>
            <a:endParaRPr lang="fr-FR"/>
          </a:p>
        </p:txBody>
      </p:sp>
      <p:sp>
        <p:nvSpPr>
          <p:cNvPr id="6" name="Text 4"/>
          <p:cNvSpPr/>
          <p:nvPr/>
        </p:nvSpPr>
        <p:spPr>
          <a:xfrm>
            <a:off x="1005840" y="1417320"/>
            <a:ext cx="73152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No rows dropped</a:t>
            </a:r>
            <a:endParaRPr lang="en-US" sz="1400" dirty="0"/>
          </a:p>
        </p:txBody>
      </p:sp>
      <p:sp>
        <p:nvSpPr>
          <p:cNvPr id="7" name="Text 5"/>
          <p:cNvSpPr/>
          <p:nvPr/>
        </p:nvSpPr>
        <p:spPr>
          <a:xfrm>
            <a:off x="1005840" y="1673352"/>
            <a:ext cx="731520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All 30,000 observations are kept. Rare codes and edge cases might carry risk signal, so removing them would lose information.</a:t>
            </a:r>
            <a:endParaRPr lang="en-US" sz="1200" dirty="0"/>
          </a:p>
        </p:txBody>
      </p:sp>
      <p:sp>
        <p:nvSpPr>
          <p:cNvPr id="8" name="Shape 6"/>
          <p:cNvSpPr/>
          <p:nvPr/>
        </p:nvSpPr>
        <p:spPr>
          <a:xfrm>
            <a:off x="731520" y="2121408"/>
            <a:ext cx="54864" cy="566928"/>
          </a:xfrm>
          <a:prstGeom prst="rect">
            <a:avLst/>
          </a:prstGeom>
          <a:solidFill>
            <a:srgbClr val="0D9488"/>
          </a:solidFill>
          <a:ln/>
        </p:spPr>
        <p:txBody>
          <a:bodyPr/>
          <a:lstStyle/>
          <a:p>
            <a:endParaRPr lang="fr-FR"/>
          </a:p>
        </p:txBody>
      </p:sp>
      <p:sp>
        <p:nvSpPr>
          <p:cNvPr id="9" name="Text 7"/>
          <p:cNvSpPr/>
          <p:nvPr/>
        </p:nvSpPr>
        <p:spPr>
          <a:xfrm>
            <a:off x="1005840" y="2121408"/>
            <a:ext cx="73152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Undocumented codes grouped</a:t>
            </a:r>
            <a:endParaRPr lang="en-US" sz="1400" dirty="0"/>
          </a:p>
        </p:txBody>
      </p:sp>
      <p:sp>
        <p:nvSpPr>
          <p:cNvPr id="10" name="Text 8"/>
          <p:cNvSpPr/>
          <p:nvPr/>
        </p:nvSpPr>
        <p:spPr>
          <a:xfrm>
            <a:off x="1005840" y="2377440"/>
            <a:ext cx="731520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EDUCATION codes 0/5/6 and MARRIAGE code 0 are mapped to 'other_unknown' instead of being treated as missing data.</a:t>
            </a:r>
            <a:endParaRPr lang="en-US" sz="1200" dirty="0"/>
          </a:p>
        </p:txBody>
      </p:sp>
      <p:sp>
        <p:nvSpPr>
          <p:cNvPr id="11" name="Shape 9"/>
          <p:cNvSpPr/>
          <p:nvPr/>
        </p:nvSpPr>
        <p:spPr>
          <a:xfrm>
            <a:off x="731520" y="2825496"/>
            <a:ext cx="54864" cy="566928"/>
          </a:xfrm>
          <a:prstGeom prst="rect">
            <a:avLst/>
          </a:prstGeom>
          <a:solidFill>
            <a:srgbClr val="3B82F6"/>
          </a:solidFill>
          <a:ln/>
        </p:spPr>
        <p:txBody>
          <a:bodyPr/>
          <a:lstStyle/>
          <a:p>
            <a:endParaRPr lang="fr-FR"/>
          </a:p>
        </p:txBody>
      </p:sp>
      <p:sp>
        <p:nvSpPr>
          <p:cNvPr id="12" name="Text 10"/>
          <p:cNvSpPr/>
          <p:nvPr/>
        </p:nvSpPr>
        <p:spPr>
          <a:xfrm>
            <a:off x="1005840" y="2825496"/>
            <a:ext cx="73152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Negative bills flagged, not removed</a:t>
            </a:r>
            <a:endParaRPr lang="en-US" sz="1400" dirty="0"/>
          </a:p>
        </p:txBody>
      </p:sp>
      <p:sp>
        <p:nvSpPr>
          <p:cNvPr id="13" name="Text 11"/>
          <p:cNvSpPr/>
          <p:nvPr/>
        </p:nvSpPr>
        <p:spPr>
          <a:xfrm>
            <a:off x="1005840" y="3081528"/>
            <a:ext cx="731520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1,930 rows have negative bill amounts. These represent credits or adjustments. We keep the raw values and add binary flags.</a:t>
            </a:r>
            <a:endParaRPr lang="en-US" sz="1200" dirty="0"/>
          </a:p>
        </p:txBody>
      </p:sp>
      <p:sp>
        <p:nvSpPr>
          <p:cNvPr id="14" name="Shape 12"/>
          <p:cNvSpPr/>
          <p:nvPr/>
        </p:nvSpPr>
        <p:spPr>
          <a:xfrm>
            <a:off x="731520" y="3529584"/>
            <a:ext cx="54864" cy="566928"/>
          </a:xfrm>
          <a:prstGeom prst="rect">
            <a:avLst/>
          </a:prstGeom>
          <a:solidFill>
            <a:srgbClr val="0D9488"/>
          </a:solidFill>
          <a:ln/>
        </p:spPr>
        <p:txBody>
          <a:bodyPr/>
          <a:lstStyle/>
          <a:p>
            <a:endParaRPr lang="fr-FR"/>
          </a:p>
        </p:txBody>
      </p:sp>
      <p:sp>
        <p:nvSpPr>
          <p:cNvPr id="15" name="Text 13"/>
          <p:cNvSpPr/>
          <p:nvPr/>
        </p:nvSpPr>
        <p:spPr>
          <a:xfrm>
            <a:off x="1005840" y="3529584"/>
            <a:ext cx="73152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Bills above limit flagged</a:t>
            </a:r>
            <a:endParaRPr lang="en-US" sz="1400" dirty="0"/>
          </a:p>
        </p:txBody>
      </p:sp>
      <p:sp>
        <p:nvSpPr>
          <p:cNvPr id="16" name="Text 14"/>
          <p:cNvSpPr/>
          <p:nvPr/>
        </p:nvSpPr>
        <p:spPr>
          <a:xfrm>
            <a:off x="1005840" y="3785616"/>
            <a:ext cx="731520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3,931 rows have bills exceeding the credit limit. Instead of dropping them, we flag them as a utilization-stress signal.</a:t>
            </a:r>
            <a:endParaRPr lang="en-US" sz="1200" dirty="0"/>
          </a:p>
        </p:txBody>
      </p:sp>
      <p:sp>
        <p:nvSpPr>
          <p:cNvPr id="17" name="Shape 15"/>
          <p:cNvSpPr/>
          <p:nvPr/>
        </p:nvSpPr>
        <p:spPr>
          <a:xfrm>
            <a:off x="731520" y="4233672"/>
            <a:ext cx="54864" cy="566928"/>
          </a:xfrm>
          <a:prstGeom prst="rect">
            <a:avLst/>
          </a:prstGeom>
          <a:solidFill>
            <a:srgbClr val="3B82F6"/>
          </a:solidFill>
          <a:ln/>
        </p:spPr>
        <p:txBody>
          <a:bodyPr/>
          <a:lstStyle/>
          <a:p>
            <a:endParaRPr lang="fr-FR"/>
          </a:p>
        </p:txBody>
      </p:sp>
      <p:sp>
        <p:nvSpPr>
          <p:cNvPr id="18" name="Text 16"/>
          <p:cNvSpPr/>
          <p:nvPr/>
        </p:nvSpPr>
        <p:spPr>
          <a:xfrm>
            <a:off x="1005840" y="4233672"/>
            <a:ext cx="73152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No leakage in preprocessing</a:t>
            </a:r>
            <a:endParaRPr lang="en-US" sz="1400" dirty="0"/>
          </a:p>
        </p:txBody>
      </p:sp>
      <p:sp>
        <p:nvSpPr>
          <p:cNvPr id="19" name="Text 17"/>
          <p:cNvSpPr/>
          <p:nvPr/>
        </p:nvSpPr>
        <p:spPr>
          <a:xfrm>
            <a:off x="1005840" y="4489704"/>
            <a:ext cx="731520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Scaling, encoding, and feature selection are learned only on training data inside pipelines. Nothing is fitted on validation or test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Feature Engineering</a:t>
            </a:r>
            <a:endParaRPr lang="en-US" sz="3200" dirty="0"/>
          </a:p>
        </p:txBody>
      </p:sp>
      <p:sp>
        <p:nvSpPr>
          <p:cNvPr id="4" name="Text 2"/>
          <p:cNvSpPr/>
          <p:nvPr/>
        </p:nvSpPr>
        <p:spPr>
          <a:xfrm>
            <a:off x="731520" y="914400"/>
            <a:ext cx="7680960" cy="4572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We went from 25 raw columns to 63 modeling features. The idea was to translate raw credit data into features that reflect how credit risk analysts actually think about risk.</a:t>
            </a:r>
            <a:endParaRPr lang="en-US" sz="1300" dirty="0"/>
          </a:p>
        </p:txBody>
      </p:sp>
      <p:sp>
        <p:nvSpPr>
          <p:cNvPr id="5" name="Shape 3"/>
          <p:cNvSpPr/>
          <p:nvPr/>
        </p:nvSpPr>
        <p:spPr>
          <a:xfrm>
            <a:off x="457200" y="1554480"/>
            <a:ext cx="3931920" cy="13258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6" name="Shape 4"/>
          <p:cNvSpPr/>
          <p:nvPr/>
        </p:nvSpPr>
        <p:spPr>
          <a:xfrm>
            <a:off x="457200" y="1554480"/>
            <a:ext cx="3931920" cy="54864"/>
          </a:xfrm>
          <a:prstGeom prst="rect">
            <a:avLst/>
          </a:prstGeom>
          <a:solidFill>
            <a:srgbClr val="3B82F6"/>
          </a:solidFill>
          <a:ln/>
        </p:spPr>
        <p:txBody>
          <a:bodyPr/>
          <a:lstStyle/>
          <a:p>
            <a:endParaRPr lang="fr-FR"/>
          </a:p>
        </p:txBody>
      </p:sp>
      <p:sp>
        <p:nvSpPr>
          <p:cNvPr id="7" name="Text 5"/>
          <p:cNvSpPr/>
          <p:nvPr/>
        </p:nvSpPr>
        <p:spPr>
          <a:xfrm>
            <a:off x="640080" y="1691640"/>
            <a:ext cx="3566160" cy="32004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Repayment Behavior</a:t>
            </a:r>
            <a:endParaRPr lang="en-US" sz="1500" dirty="0"/>
          </a:p>
        </p:txBody>
      </p:sp>
      <p:sp>
        <p:nvSpPr>
          <p:cNvPr id="8" name="Text 6"/>
          <p:cNvSpPr/>
          <p:nvPr/>
        </p:nvSpPr>
        <p:spPr>
          <a:xfrm>
            <a:off x="640080" y="2057400"/>
            <a:ext cx="356616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Recent delay status, max delay, delinquency count, severe delinquency months, months paid duly</a:t>
            </a:r>
            <a:endParaRPr lang="en-US" sz="1200" dirty="0"/>
          </a:p>
        </p:txBody>
      </p:sp>
      <p:sp>
        <p:nvSpPr>
          <p:cNvPr id="9" name="Shape 7"/>
          <p:cNvSpPr/>
          <p:nvPr/>
        </p:nvSpPr>
        <p:spPr>
          <a:xfrm>
            <a:off x="4754880" y="1554480"/>
            <a:ext cx="3931920" cy="13258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0" name="Shape 8"/>
          <p:cNvSpPr/>
          <p:nvPr/>
        </p:nvSpPr>
        <p:spPr>
          <a:xfrm>
            <a:off x="4754880" y="1554480"/>
            <a:ext cx="3931920" cy="54864"/>
          </a:xfrm>
          <a:prstGeom prst="rect">
            <a:avLst/>
          </a:prstGeom>
          <a:solidFill>
            <a:srgbClr val="0D9488"/>
          </a:solidFill>
          <a:ln/>
        </p:spPr>
        <p:txBody>
          <a:bodyPr/>
          <a:lstStyle/>
          <a:p>
            <a:endParaRPr lang="fr-FR"/>
          </a:p>
        </p:txBody>
      </p:sp>
      <p:sp>
        <p:nvSpPr>
          <p:cNvPr id="11" name="Text 9"/>
          <p:cNvSpPr/>
          <p:nvPr/>
        </p:nvSpPr>
        <p:spPr>
          <a:xfrm>
            <a:off x="4937760" y="1691640"/>
            <a:ext cx="3566160" cy="32004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Utilization Ratios</a:t>
            </a:r>
            <a:endParaRPr lang="en-US" sz="1500" dirty="0"/>
          </a:p>
        </p:txBody>
      </p:sp>
      <p:sp>
        <p:nvSpPr>
          <p:cNvPr id="12" name="Text 10"/>
          <p:cNvSpPr/>
          <p:nvPr/>
        </p:nvSpPr>
        <p:spPr>
          <a:xfrm>
            <a:off x="4937760" y="2057400"/>
            <a:ext cx="356616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Bill-to-limit ratios (per month), max utilization, mean utilization, bills above limit indicator</a:t>
            </a:r>
            <a:endParaRPr lang="en-US" sz="1200" dirty="0"/>
          </a:p>
        </p:txBody>
      </p:sp>
      <p:sp>
        <p:nvSpPr>
          <p:cNvPr id="13" name="Shape 11"/>
          <p:cNvSpPr/>
          <p:nvPr/>
        </p:nvSpPr>
        <p:spPr>
          <a:xfrm>
            <a:off x="457200" y="3108960"/>
            <a:ext cx="3931920" cy="13258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4" name="Shape 12"/>
          <p:cNvSpPr/>
          <p:nvPr/>
        </p:nvSpPr>
        <p:spPr>
          <a:xfrm>
            <a:off x="457200" y="3108960"/>
            <a:ext cx="3931920" cy="54864"/>
          </a:xfrm>
          <a:prstGeom prst="rect">
            <a:avLst/>
          </a:prstGeom>
          <a:solidFill>
            <a:srgbClr val="0D9488"/>
          </a:solidFill>
          <a:ln/>
        </p:spPr>
        <p:txBody>
          <a:bodyPr/>
          <a:lstStyle/>
          <a:p>
            <a:endParaRPr lang="fr-FR"/>
          </a:p>
        </p:txBody>
      </p:sp>
      <p:sp>
        <p:nvSpPr>
          <p:cNvPr id="15" name="Text 13"/>
          <p:cNvSpPr/>
          <p:nvPr/>
        </p:nvSpPr>
        <p:spPr>
          <a:xfrm>
            <a:off x="640080" y="3246120"/>
            <a:ext cx="3566160" cy="32004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Payment Capacity</a:t>
            </a:r>
            <a:endParaRPr lang="en-US" sz="1500" dirty="0"/>
          </a:p>
        </p:txBody>
      </p:sp>
      <p:sp>
        <p:nvSpPr>
          <p:cNvPr id="16" name="Text 14"/>
          <p:cNvSpPr/>
          <p:nvPr/>
        </p:nvSpPr>
        <p:spPr>
          <a:xfrm>
            <a:off x="640080" y="3611880"/>
            <a:ext cx="356616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Payment-to-bill ratios, payment-to-limit ratios, total payment amount, zero-payment months count</a:t>
            </a:r>
            <a:endParaRPr lang="en-US" sz="1200" dirty="0"/>
          </a:p>
        </p:txBody>
      </p:sp>
      <p:sp>
        <p:nvSpPr>
          <p:cNvPr id="17" name="Shape 15"/>
          <p:cNvSpPr/>
          <p:nvPr/>
        </p:nvSpPr>
        <p:spPr>
          <a:xfrm>
            <a:off x="4754880" y="3108960"/>
            <a:ext cx="3931920" cy="132588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8" name="Shape 16"/>
          <p:cNvSpPr/>
          <p:nvPr/>
        </p:nvSpPr>
        <p:spPr>
          <a:xfrm>
            <a:off x="4754880" y="3108960"/>
            <a:ext cx="3931920" cy="54864"/>
          </a:xfrm>
          <a:prstGeom prst="rect">
            <a:avLst/>
          </a:prstGeom>
          <a:solidFill>
            <a:srgbClr val="3B82F6"/>
          </a:solidFill>
          <a:ln/>
        </p:spPr>
        <p:txBody>
          <a:bodyPr/>
          <a:lstStyle/>
          <a:p>
            <a:endParaRPr lang="fr-FR"/>
          </a:p>
        </p:txBody>
      </p:sp>
      <p:sp>
        <p:nvSpPr>
          <p:cNvPr id="19" name="Text 17"/>
          <p:cNvSpPr/>
          <p:nvPr/>
        </p:nvSpPr>
        <p:spPr>
          <a:xfrm>
            <a:off x="4937760" y="3246120"/>
            <a:ext cx="3566160" cy="32004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Accounting Flags</a:t>
            </a:r>
            <a:endParaRPr lang="en-US" sz="1500" dirty="0"/>
          </a:p>
        </p:txBody>
      </p:sp>
      <p:sp>
        <p:nvSpPr>
          <p:cNvPr id="20" name="Text 18"/>
          <p:cNvSpPr/>
          <p:nvPr/>
        </p:nvSpPr>
        <p:spPr>
          <a:xfrm>
            <a:off x="4937760" y="3611880"/>
            <a:ext cx="356616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Negative bill months, non-positive bill months, months revolving credit, months with no consumption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Modeling Approach</a:t>
            </a:r>
            <a:endParaRPr lang="en-US" sz="3200" dirty="0"/>
          </a:p>
        </p:txBody>
      </p:sp>
      <p:sp>
        <p:nvSpPr>
          <p:cNvPr id="4" name="Text 2"/>
          <p:cNvSpPr/>
          <p:nvPr/>
        </p:nvSpPr>
        <p:spPr>
          <a:xfrm>
            <a:off x="731520" y="1005840"/>
            <a:ext cx="4572000" cy="32004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Train / Validation / Test Split</a:t>
            </a:r>
            <a:endParaRPr lang="en-US" sz="1600" dirty="0"/>
          </a:p>
        </p:txBody>
      </p:sp>
      <p:sp>
        <p:nvSpPr>
          <p:cNvPr id="5" name="Shape 3"/>
          <p:cNvSpPr/>
          <p:nvPr/>
        </p:nvSpPr>
        <p:spPr>
          <a:xfrm>
            <a:off x="731520" y="1417320"/>
            <a:ext cx="3840480" cy="502920"/>
          </a:xfrm>
          <a:prstGeom prst="rect">
            <a:avLst/>
          </a:prstGeom>
          <a:solidFill>
            <a:srgbClr val="3B82F6"/>
          </a:solidFill>
          <a:ln/>
        </p:spPr>
        <p:txBody>
          <a:bodyPr/>
          <a:lstStyle/>
          <a:p>
            <a:endParaRPr lang="fr-FR"/>
          </a:p>
        </p:txBody>
      </p:sp>
      <p:sp>
        <p:nvSpPr>
          <p:cNvPr id="6" name="Text 4"/>
          <p:cNvSpPr/>
          <p:nvPr/>
        </p:nvSpPr>
        <p:spPr>
          <a:xfrm>
            <a:off x="731520" y="1417320"/>
            <a:ext cx="38404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Train  70%  (n=21,000)</a:t>
            </a:r>
            <a:endParaRPr lang="en-US" sz="1200" dirty="0"/>
          </a:p>
        </p:txBody>
      </p:sp>
      <p:sp>
        <p:nvSpPr>
          <p:cNvPr id="7" name="Shape 5"/>
          <p:cNvSpPr/>
          <p:nvPr/>
        </p:nvSpPr>
        <p:spPr>
          <a:xfrm>
            <a:off x="4663440" y="1417320"/>
            <a:ext cx="1645920" cy="502920"/>
          </a:xfrm>
          <a:prstGeom prst="rect">
            <a:avLst/>
          </a:prstGeom>
          <a:solidFill>
            <a:srgbClr val="0D9488"/>
          </a:solidFill>
          <a:ln/>
        </p:spPr>
        <p:txBody>
          <a:bodyPr/>
          <a:lstStyle/>
          <a:p>
            <a:endParaRPr lang="fr-FR"/>
          </a:p>
        </p:txBody>
      </p:sp>
      <p:sp>
        <p:nvSpPr>
          <p:cNvPr id="8" name="Text 6"/>
          <p:cNvSpPr/>
          <p:nvPr/>
        </p:nvSpPr>
        <p:spPr>
          <a:xfrm>
            <a:off x="4663440" y="1417320"/>
            <a:ext cx="1645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Validation  15%  (n=4,500)</a:t>
            </a:r>
            <a:endParaRPr lang="en-US" sz="1200" dirty="0"/>
          </a:p>
        </p:txBody>
      </p:sp>
      <p:sp>
        <p:nvSpPr>
          <p:cNvPr id="9" name="Shape 7"/>
          <p:cNvSpPr/>
          <p:nvPr/>
        </p:nvSpPr>
        <p:spPr>
          <a:xfrm>
            <a:off x="6400800" y="1417320"/>
            <a:ext cx="1645920" cy="502920"/>
          </a:xfrm>
          <a:prstGeom prst="rect">
            <a:avLst/>
          </a:prstGeom>
          <a:solidFill>
            <a:srgbClr val="1B2A4A"/>
          </a:solidFill>
          <a:ln/>
        </p:spPr>
        <p:txBody>
          <a:bodyPr/>
          <a:lstStyle/>
          <a:p>
            <a:endParaRPr lang="fr-FR"/>
          </a:p>
        </p:txBody>
      </p:sp>
      <p:sp>
        <p:nvSpPr>
          <p:cNvPr id="10" name="Text 8"/>
          <p:cNvSpPr/>
          <p:nvPr/>
        </p:nvSpPr>
        <p:spPr>
          <a:xfrm>
            <a:off x="6400800" y="1417320"/>
            <a:ext cx="1645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Test  15%  (n=4,500)</a:t>
            </a:r>
            <a:endParaRPr lang="en-US" sz="1200" dirty="0"/>
          </a:p>
        </p:txBody>
      </p:sp>
      <p:sp>
        <p:nvSpPr>
          <p:cNvPr id="11" name="Text 9"/>
          <p:cNvSpPr/>
          <p:nvPr/>
        </p:nvSpPr>
        <p:spPr>
          <a:xfrm>
            <a:off x="731520" y="2011680"/>
            <a:ext cx="731520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All splits are stratified to preserve the 22.1% default rate.</a:t>
            </a:r>
            <a:endParaRPr lang="en-US" sz="1100" dirty="0"/>
          </a:p>
        </p:txBody>
      </p:sp>
      <p:sp>
        <p:nvSpPr>
          <p:cNvPr id="12" name="Text 10"/>
          <p:cNvSpPr/>
          <p:nvPr/>
        </p:nvSpPr>
        <p:spPr>
          <a:xfrm>
            <a:off x="731520" y="2468880"/>
            <a:ext cx="4572000" cy="32004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Models Compared</a:t>
            </a:r>
            <a:endParaRPr lang="en-US" sz="1600" dirty="0"/>
          </a:p>
        </p:txBody>
      </p:sp>
      <p:sp>
        <p:nvSpPr>
          <p:cNvPr id="13" name="Shape 11"/>
          <p:cNvSpPr/>
          <p:nvPr/>
        </p:nvSpPr>
        <p:spPr>
          <a:xfrm>
            <a:off x="731520" y="2935224"/>
            <a:ext cx="109728" cy="109728"/>
          </a:xfrm>
          <a:prstGeom prst="ellipse">
            <a:avLst/>
          </a:prstGeom>
          <a:solidFill>
            <a:srgbClr val="3B82F6"/>
          </a:solidFill>
          <a:ln/>
        </p:spPr>
        <p:txBody>
          <a:bodyPr/>
          <a:lstStyle/>
          <a:p>
            <a:endParaRPr lang="fr-FR"/>
          </a:p>
        </p:txBody>
      </p:sp>
      <p:sp>
        <p:nvSpPr>
          <p:cNvPr id="14" name="Text 12"/>
          <p:cNvSpPr/>
          <p:nvPr/>
        </p:nvSpPr>
        <p:spPr>
          <a:xfrm>
            <a:off x="1005840" y="2880360"/>
            <a:ext cx="25603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Dummy Baseline</a:t>
            </a:r>
            <a:endParaRPr lang="en-US" sz="1200" dirty="0"/>
          </a:p>
        </p:txBody>
      </p:sp>
      <p:sp>
        <p:nvSpPr>
          <p:cNvPr id="15" name="Text 13"/>
          <p:cNvSpPr/>
          <p:nvPr/>
        </p:nvSpPr>
        <p:spPr>
          <a:xfrm>
            <a:off x="3566160" y="2880360"/>
            <a:ext cx="502920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Always predicts majority class. Used as a sanity check.</a:t>
            </a:r>
            <a:endParaRPr lang="en-US" sz="1100" dirty="0"/>
          </a:p>
        </p:txBody>
      </p:sp>
      <p:sp>
        <p:nvSpPr>
          <p:cNvPr id="16" name="Shape 14"/>
          <p:cNvSpPr/>
          <p:nvPr/>
        </p:nvSpPr>
        <p:spPr>
          <a:xfrm>
            <a:off x="731520" y="3236976"/>
            <a:ext cx="109728" cy="109728"/>
          </a:xfrm>
          <a:prstGeom prst="ellipse">
            <a:avLst/>
          </a:prstGeom>
          <a:solidFill>
            <a:srgbClr val="3B82F6"/>
          </a:solidFill>
          <a:ln/>
        </p:spPr>
        <p:txBody>
          <a:bodyPr/>
          <a:lstStyle/>
          <a:p>
            <a:endParaRPr lang="fr-FR"/>
          </a:p>
        </p:txBody>
      </p:sp>
      <p:sp>
        <p:nvSpPr>
          <p:cNvPr id="17" name="Text 15"/>
          <p:cNvSpPr/>
          <p:nvPr/>
        </p:nvSpPr>
        <p:spPr>
          <a:xfrm>
            <a:off x="1005840" y="3182112"/>
            <a:ext cx="25603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Logistic Regression (L2)</a:t>
            </a:r>
            <a:endParaRPr lang="en-US" sz="1200" dirty="0"/>
          </a:p>
        </p:txBody>
      </p:sp>
      <p:sp>
        <p:nvSpPr>
          <p:cNvPr id="18" name="Text 16"/>
          <p:cNvSpPr/>
          <p:nvPr/>
        </p:nvSpPr>
        <p:spPr>
          <a:xfrm>
            <a:off x="3566160" y="3182112"/>
            <a:ext cx="502920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Simple linear model. Good baseline for interpretability.</a:t>
            </a:r>
            <a:endParaRPr lang="en-US" sz="1100" dirty="0"/>
          </a:p>
        </p:txBody>
      </p:sp>
      <p:sp>
        <p:nvSpPr>
          <p:cNvPr id="19" name="Shape 17"/>
          <p:cNvSpPr/>
          <p:nvPr/>
        </p:nvSpPr>
        <p:spPr>
          <a:xfrm>
            <a:off x="731520" y="3538728"/>
            <a:ext cx="109728" cy="109728"/>
          </a:xfrm>
          <a:prstGeom prst="ellipse">
            <a:avLst/>
          </a:prstGeom>
          <a:solidFill>
            <a:srgbClr val="3B82F6"/>
          </a:solidFill>
          <a:ln/>
        </p:spPr>
        <p:txBody>
          <a:bodyPr/>
          <a:lstStyle/>
          <a:p>
            <a:endParaRPr lang="fr-FR"/>
          </a:p>
        </p:txBody>
      </p:sp>
      <p:sp>
        <p:nvSpPr>
          <p:cNvPr id="20" name="Text 18"/>
          <p:cNvSpPr/>
          <p:nvPr/>
        </p:nvSpPr>
        <p:spPr>
          <a:xfrm>
            <a:off x="1005840" y="3483864"/>
            <a:ext cx="25603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Random Forest</a:t>
            </a:r>
            <a:endParaRPr lang="en-US" sz="1200" dirty="0"/>
          </a:p>
        </p:txBody>
      </p:sp>
      <p:sp>
        <p:nvSpPr>
          <p:cNvPr id="21" name="Text 19"/>
          <p:cNvSpPr/>
          <p:nvPr/>
        </p:nvSpPr>
        <p:spPr>
          <a:xfrm>
            <a:off x="3566160" y="3483864"/>
            <a:ext cx="502920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Bagging ensemble with balanced class weights.</a:t>
            </a:r>
            <a:endParaRPr lang="en-US" sz="1100" dirty="0"/>
          </a:p>
        </p:txBody>
      </p:sp>
      <p:sp>
        <p:nvSpPr>
          <p:cNvPr id="22" name="Shape 20"/>
          <p:cNvSpPr/>
          <p:nvPr/>
        </p:nvSpPr>
        <p:spPr>
          <a:xfrm>
            <a:off x="731520" y="3840480"/>
            <a:ext cx="109728" cy="109728"/>
          </a:xfrm>
          <a:prstGeom prst="ellipse">
            <a:avLst/>
          </a:prstGeom>
          <a:solidFill>
            <a:srgbClr val="3B82F6"/>
          </a:solidFill>
          <a:ln/>
        </p:spPr>
        <p:txBody>
          <a:bodyPr/>
          <a:lstStyle/>
          <a:p>
            <a:endParaRPr lang="fr-FR"/>
          </a:p>
        </p:txBody>
      </p:sp>
      <p:sp>
        <p:nvSpPr>
          <p:cNvPr id="23" name="Text 21"/>
          <p:cNvSpPr/>
          <p:nvPr/>
        </p:nvSpPr>
        <p:spPr>
          <a:xfrm>
            <a:off x="1005840" y="3785616"/>
            <a:ext cx="25603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Hist Gradient Boosting</a:t>
            </a:r>
            <a:endParaRPr lang="en-US" sz="1200" dirty="0"/>
          </a:p>
        </p:txBody>
      </p:sp>
      <p:sp>
        <p:nvSpPr>
          <p:cNvPr id="24" name="Text 22"/>
          <p:cNvSpPr/>
          <p:nvPr/>
        </p:nvSpPr>
        <p:spPr>
          <a:xfrm>
            <a:off x="3566160" y="3785616"/>
            <a:ext cx="502920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Sklearn's fast gradient boosting with balanced weights.</a:t>
            </a:r>
            <a:endParaRPr lang="en-US" sz="1100" dirty="0"/>
          </a:p>
        </p:txBody>
      </p:sp>
      <p:sp>
        <p:nvSpPr>
          <p:cNvPr id="25" name="Shape 23"/>
          <p:cNvSpPr/>
          <p:nvPr/>
        </p:nvSpPr>
        <p:spPr>
          <a:xfrm>
            <a:off x="731520" y="4142232"/>
            <a:ext cx="109728" cy="109728"/>
          </a:xfrm>
          <a:prstGeom prst="ellipse">
            <a:avLst/>
          </a:prstGeom>
          <a:solidFill>
            <a:srgbClr val="3B82F6"/>
          </a:solidFill>
          <a:ln/>
        </p:spPr>
        <p:txBody>
          <a:bodyPr/>
          <a:lstStyle/>
          <a:p>
            <a:endParaRPr lang="fr-FR"/>
          </a:p>
        </p:txBody>
      </p:sp>
      <p:sp>
        <p:nvSpPr>
          <p:cNvPr id="26" name="Text 24"/>
          <p:cNvSpPr/>
          <p:nvPr/>
        </p:nvSpPr>
        <p:spPr>
          <a:xfrm>
            <a:off x="1005840" y="4087368"/>
            <a:ext cx="25603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XGBoost</a:t>
            </a:r>
            <a:endParaRPr lang="en-US" sz="1200" dirty="0"/>
          </a:p>
        </p:txBody>
      </p:sp>
      <p:sp>
        <p:nvSpPr>
          <p:cNvPr id="27" name="Text 25"/>
          <p:cNvSpPr/>
          <p:nvPr/>
        </p:nvSpPr>
        <p:spPr>
          <a:xfrm>
            <a:off x="3566160" y="4087368"/>
            <a:ext cx="502920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Gradient boosting with scale_pos_weight for class imbalance.</a:t>
            </a:r>
            <a:endParaRPr lang="en-US" sz="1100" dirty="0"/>
          </a:p>
        </p:txBody>
      </p:sp>
      <p:sp>
        <p:nvSpPr>
          <p:cNvPr id="28" name="Shape 26"/>
          <p:cNvSpPr/>
          <p:nvPr/>
        </p:nvSpPr>
        <p:spPr>
          <a:xfrm>
            <a:off x="731520" y="4443984"/>
            <a:ext cx="109728" cy="109728"/>
          </a:xfrm>
          <a:prstGeom prst="ellipse">
            <a:avLst/>
          </a:prstGeom>
          <a:solidFill>
            <a:srgbClr val="3B82F6"/>
          </a:solidFill>
          <a:ln/>
        </p:spPr>
        <p:txBody>
          <a:bodyPr/>
          <a:lstStyle/>
          <a:p>
            <a:endParaRPr lang="fr-FR"/>
          </a:p>
        </p:txBody>
      </p:sp>
      <p:sp>
        <p:nvSpPr>
          <p:cNvPr id="29" name="Text 27"/>
          <p:cNvSpPr/>
          <p:nvPr/>
        </p:nvSpPr>
        <p:spPr>
          <a:xfrm>
            <a:off x="1005840" y="4389120"/>
            <a:ext cx="25603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LightGBM</a:t>
            </a:r>
            <a:endParaRPr lang="en-US" sz="1200" dirty="0"/>
          </a:p>
        </p:txBody>
      </p:sp>
      <p:sp>
        <p:nvSpPr>
          <p:cNvPr id="30" name="Text 28"/>
          <p:cNvSpPr/>
          <p:nvPr/>
        </p:nvSpPr>
        <p:spPr>
          <a:xfrm>
            <a:off x="3566160" y="4389120"/>
            <a:ext cx="502920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Fast gradient boosting with balanced class weights.</a:t>
            </a:r>
            <a:endParaRPr lang="en-US" sz="1100" dirty="0"/>
          </a:p>
        </p:txBody>
      </p:sp>
      <p:sp>
        <p:nvSpPr>
          <p:cNvPr id="31" name="Shape 29"/>
          <p:cNvSpPr/>
          <p:nvPr/>
        </p:nvSpPr>
        <p:spPr>
          <a:xfrm>
            <a:off x="731520" y="4745736"/>
            <a:ext cx="109728" cy="109728"/>
          </a:xfrm>
          <a:prstGeom prst="ellipse">
            <a:avLst/>
          </a:prstGeom>
          <a:solidFill>
            <a:srgbClr val="3B82F6"/>
          </a:solidFill>
          <a:ln/>
        </p:spPr>
        <p:txBody>
          <a:bodyPr/>
          <a:lstStyle/>
          <a:p>
            <a:endParaRPr lang="fr-FR"/>
          </a:p>
        </p:txBody>
      </p:sp>
      <p:sp>
        <p:nvSpPr>
          <p:cNvPr id="32" name="Text 30"/>
          <p:cNvSpPr/>
          <p:nvPr/>
        </p:nvSpPr>
        <p:spPr>
          <a:xfrm>
            <a:off x="1005840" y="4690872"/>
            <a:ext cx="256032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CatBoost (3 variants)</a:t>
            </a:r>
            <a:endParaRPr lang="en-US" sz="1200" dirty="0"/>
          </a:p>
        </p:txBody>
      </p:sp>
      <p:sp>
        <p:nvSpPr>
          <p:cNvPr id="33" name="Text 31"/>
          <p:cNvSpPr/>
          <p:nvPr/>
        </p:nvSpPr>
        <p:spPr>
          <a:xfrm>
            <a:off x="3566160" y="4690872"/>
            <a:ext cx="502920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Handles categorical features natively. Plain, balanced, and sqrt-balanced.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Validation Results: Model Comparison</a:t>
            </a:r>
            <a:endParaRPr lang="en-US" sz="2800" dirty="0"/>
          </a:p>
        </p:txBody>
      </p:sp>
      <p:graphicFrame>
        <p:nvGraphicFramePr>
          <p:cNvPr id="4" name="Chart 0"/>
          <p:cNvGraphicFramePr/>
          <p:nvPr/>
        </p:nvGraphicFramePr>
        <p:xfrm>
          <a:off x="274320" y="100584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035040" y="1005840"/>
            <a:ext cx="2926080" cy="320040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6" name="Text 3"/>
          <p:cNvSpPr/>
          <p:nvPr/>
        </p:nvSpPr>
        <p:spPr>
          <a:xfrm>
            <a:off x="6217920" y="1097280"/>
            <a:ext cx="2560320" cy="32004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Selection Logic</a:t>
            </a:r>
            <a:endParaRPr lang="en-US" sz="1600" dirty="0"/>
          </a:p>
        </p:txBody>
      </p:sp>
      <p:sp>
        <p:nvSpPr>
          <p:cNvPr id="7" name="Text 4"/>
          <p:cNvSpPr/>
          <p:nvPr/>
        </p:nvSpPr>
        <p:spPr>
          <a:xfrm>
            <a:off x="6217920" y="1463040"/>
            <a:ext cx="2560320" cy="2560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We selected the model based on validation PR-AUC, because defaults are the minority class and we care about catching them.</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CatBoost Plain wins with PR-AUC = 0.579 and the best Brier score (0.130), meaning its probabilities are also well calibrated out of the box.</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The threshold was then tuned on validation F1 (not fixed at 0.50). Best threshold: 0.30, which improves recall from 37% to 54%.</a:t>
            </a:r>
            <a:endParaRPr lang="en-US" sz="1100" dirty="0"/>
          </a:p>
        </p:txBody>
      </p:sp>
      <p:sp>
        <p:nvSpPr>
          <p:cNvPr id="8" name="Text 5"/>
          <p:cNvSpPr/>
          <p:nvPr/>
        </p:nvSpPr>
        <p:spPr>
          <a:xfrm>
            <a:off x="457200" y="4389120"/>
            <a:ext cx="822960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PR-AUC is the main metric because accuracy alone is misleading with 22% default rate.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Top 10 Feature Importances</a:t>
            </a:r>
            <a:endParaRPr lang="en-US" sz="2800" dirty="0"/>
          </a:p>
        </p:txBody>
      </p:sp>
      <p:graphicFrame>
        <p:nvGraphicFramePr>
          <p:cNvPr id="4" name="Chart 0"/>
          <p:cNvGraphicFramePr/>
          <p:nvPr/>
        </p:nvGraphicFramePr>
        <p:xfrm>
          <a:off x="274320" y="914400"/>
          <a:ext cx="50292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69280" y="914400"/>
            <a:ext cx="3291840" cy="4121834"/>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6" name="Text 3"/>
          <p:cNvSpPr/>
          <p:nvPr/>
        </p:nvSpPr>
        <p:spPr>
          <a:xfrm>
            <a:off x="5852160" y="1005840"/>
            <a:ext cx="2926080" cy="32004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What This Tells Us</a:t>
            </a:r>
            <a:endParaRPr lang="en-US" sz="1600" dirty="0"/>
          </a:p>
        </p:txBody>
      </p:sp>
      <p:sp>
        <p:nvSpPr>
          <p:cNvPr id="7" name="Text 4"/>
          <p:cNvSpPr/>
          <p:nvPr/>
        </p:nvSpPr>
        <p:spPr>
          <a:xfrm>
            <a:off x="5852160" y="1371600"/>
            <a:ext cx="2926080" cy="2926080"/>
          </a:xfrm>
          <a:prstGeom prst="rect">
            <a:avLst/>
          </a:prstGeom>
          <a:noFill/>
          <a:ln/>
        </p:spPr>
        <p:txBody>
          <a:bodyPr wrap="square" lIns="0" tIns="0" rIns="0" bIns="0" rtlCol="0" anchor="t"/>
          <a:lstStyle/>
          <a:p>
            <a:pPr marL="0" indent="0">
              <a:buNone/>
            </a:pPr>
            <a:r>
              <a:rPr lang="en-US" sz="1200" b="1" dirty="0">
                <a:solidFill>
                  <a:srgbClr val="1E293B"/>
                </a:solidFill>
                <a:latin typeface="Calibri" pitchFamily="34" charset="0"/>
                <a:ea typeface="Calibri" pitchFamily="34" charset="-122"/>
                <a:cs typeface="Calibri" pitchFamily="34" charset="-120"/>
              </a:rPr>
              <a:t>Repayment behavior dominates.
</a:t>
            </a:r>
            <a:endParaRPr lang="en-US" sz="1200" dirty="0"/>
          </a:p>
          <a:p>
            <a:pPr marL="0" indent="0">
              <a:buNone/>
            </a:pPr>
            <a:r>
              <a:rPr lang="en-US" sz="1100" dirty="0">
                <a:solidFill>
                  <a:srgbClr val="1E293B"/>
                </a:solidFill>
                <a:latin typeface="Calibri" pitchFamily="34" charset="0"/>
                <a:ea typeface="Calibri" pitchFamily="34" charset="-122"/>
                <a:cs typeface="Calibri" pitchFamily="34" charset="-120"/>
              </a:rPr>
              <a:t>The top 3 features are all related to past payment delays. This confirms what the EDA showed: how a client has been paying is the strongest predictor of whether they'll default.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Credit limit and amounts matter too.
</a:t>
            </a:r>
            <a:endParaRPr lang="en-US" sz="1200" dirty="0"/>
          </a:p>
          <a:p>
            <a:pPr marL="0" indent="0">
              <a:buNone/>
            </a:pPr>
            <a:r>
              <a:rPr lang="en-US" sz="1100" dirty="0">
                <a:solidFill>
                  <a:srgbClr val="1E293B"/>
                </a:solidFill>
                <a:latin typeface="Calibri" pitchFamily="34" charset="0"/>
                <a:ea typeface="Calibri" pitchFamily="34" charset="-122"/>
                <a:cs typeface="Calibri" pitchFamily="34" charset="-120"/>
              </a:rPr>
              <a:t>LIMIT_BAL and BILL_AMT1 appear in the top 6, showing that exposure and balance size carry useful signal.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Engineered features rank high.
</a:t>
            </a:r>
            <a:endParaRPr lang="en-US" sz="1200" dirty="0"/>
          </a:p>
          <a:p>
            <a:pPr marL="0" indent="0">
              <a:buNone/>
            </a:pPr>
            <a:r>
              <a:rPr lang="en-US" sz="1100" dirty="0">
                <a:solidFill>
                  <a:srgbClr val="1E293B"/>
                </a:solidFill>
                <a:latin typeface="Calibri" pitchFamily="34" charset="0"/>
                <a:ea typeface="Calibri" pitchFamily="34" charset="-122"/>
                <a:cs typeface="Calibri" pitchFamily="34" charset="-120"/>
              </a:rPr>
              <a:t>Features we built (delinquency_months, severe_delinquency_months, mean_positive_delay) are in the top 10, validating our feature engineering.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Final Test Set Results</a:t>
            </a:r>
            <a:endParaRPr lang="en-US" sz="3200" dirty="0"/>
          </a:p>
        </p:txBody>
      </p:sp>
      <p:sp>
        <p:nvSpPr>
          <p:cNvPr id="4" name="Text 2"/>
          <p:cNvSpPr/>
          <p:nvPr/>
        </p:nvSpPr>
        <p:spPr>
          <a:xfrm>
            <a:off x="731520" y="868680"/>
            <a:ext cx="768096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CatBoost Plain, retrained on Train + Validation, evaluated once on the held-out test set.</a:t>
            </a:r>
            <a:endParaRPr lang="en-US" sz="1300" dirty="0"/>
          </a:p>
        </p:txBody>
      </p:sp>
      <p:sp>
        <p:nvSpPr>
          <p:cNvPr id="5" name="Shape 3"/>
          <p:cNvSpPr/>
          <p:nvPr/>
        </p:nvSpPr>
        <p:spPr>
          <a:xfrm>
            <a:off x="457200" y="1371600"/>
            <a:ext cx="1920240" cy="128016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6" name="Text 4"/>
          <p:cNvSpPr/>
          <p:nvPr/>
        </p:nvSpPr>
        <p:spPr>
          <a:xfrm>
            <a:off x="457200" y="1417320"/>
            <a:ext cx="1920240" cy="594360"/>
          </a:xfrm>
          <a:prstGeom prst="rect">
            <a:avLst/>
          </a:prstGeom>
          <a:noFill/>
          <a:ln/>
        </p:spPr>
        <p:txBody>
          <a:bodyPr wrap="square" lIns="0" tIns="0" rIns="0" bIns="0" rtlCol="0" anchor="ctr"/>
          <a:lstStyle/>
          <a:p>
            <a:pPr marL="0" indent="0" algn="ctr">
              <a:buNone/>
            </a:pPr>
            <a:r>
              <a:rPr lang="en-US" sz="3200" b="1" dirty="0">
                <a:solidFill>
                  <a:srgbClr val="3B82F6"/>
                </a:solidFill>
                <a:latin typeface="Georgia" pitchFamily="34" charset="0"/>
                <a:ea typeface="Georgia" pitchFamily="34" charset="-122"/>
                <a:cs typeface="Georgia" pitchFamily="34" charset="-120"/>
              </a:rPr>
              <a:t>0.789</a:t>
            </a:r>
            <a:endParaRPr lang="en-US" sz="3200" dirty="0"/>
          </a:p>
        </p:txBody>
      </p:sp>
      <p:sp>
        <p:nvSpPr>
          <p:cNvPr id="7" name="Text 5"/>
          <p:cNvSpPr/>
          <p:nvPr/>
        </p:nvSpPr>
        <p:spPr>
          <a:xfrm>
            <a:off x="457200" y="2011680"/>
            <a:ext cx="192024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ROC-AUC</a:t>
            </a:r>
            <a:endParaRPr lang="en-US" sz="1400" dirty="0"/>
          </a:p>
        </p:txBody>
      </p:sp>
      <p:sp>
        <p:nvSpPr>
          <p:cNvPr id="8" name="Text 6"/>
          <p:cNvSpPr/>
          <p:nvPr/>
        </p:nvSpPr>
        <p:spPr>
          <a:xfrm>
            <a:off x="457200" y="228600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Good ranking ability</a:t>
            </a:r>
            <a:endParaRPr lang="en-US" sz="1000" dirty="0"/>
          </a:p>
        </p:txBody>
      </p:sp>
      <p:sp>
        <p:nvSpPr>
          <p:cNvPr id="9" name="Shape 7"/>
          <p:cNvSpPr/>
          <p:nvPr/>
        </p:nvSpPr>
        <p:spPr>
          <a:xfrm>
            <a:off x="2606040" y="1371600"/>
            <a:ext cx="1920240" cy="128016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0" name="Text 8"/>
          <p:cNvSpPr/>
          <p:nvPr/>
        </p:nvSpPr>
        <p:spPr>
          <a:xfrm>
            <a:off x="2606040" y="1417320"/>
            <a:ext cx="1920240" cy="594360"/>
          </a:xfrm>
          <a:prstGeom prst="rect">
            <a:avLst/>
          </a:prstGeom>
          <a:noFill/>
          <a:ln/>
        </p:spPr>
        <p:txBody>
          <a:bodyPr wrap="square" lIns="0" tIns="0" rIns="0" bIns="0" rtlCol="0" anchor="ctr"/>
          <a:lstStyle/>
          <a:p>
            <a:pPr marL="0" indent="0" algn="ctr">
              <a:buNone/>
            </a:pPr>
            <a:r>
              <a:rPr lang="en-US" sz="3200" b="1" dirty="0">
                <a:solidFill>
                  <a:srgbClr val="3B82F6"/>
                </a:solidFill>
                <a:latin typeface="Georgia" pitchFamily="34" charset="0"/>
                <a:ea typeface="Georgia" pitchFamily="34" charset="-122"/>
                <a:cs typeface="Georgia" pitchFamily="34" charset="-120"/>
              </a:rPr>
              <a:t>0.573</a:t>
            </a:r>
            <a:endParaRPr lang="en-US" sz="3200" dirty="0"/>
          </a:p>
        </p:txBody>
      </p:sp>
      <p:sp>
        <p:nvSpPr>
          <p:cNvPr id="11" name="Text 9"/>
          <p:cNvSpPr/>
          <p:nvPr/>
        </p:nvSpPr>
        <p:spPr>
          <a:xfrm>
            <a:off x="2606040" y="2011680"/>
            <a:ext cx="192024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PR-AUC</a:t>
            </a:r>
            <a:endParaRPr lang="en-US" sz="1400" dirty="0"/>
          </a:p>
        </p:txBody>
      </p:sp>
      <p:sp>
        <p:nvSpPr>
          <p:cNvPr id="12" name="Text 10"/>
          <p:cNvSpPr/>
          <p:nvPr/>
        </p:nvSpPr>
        <p:spPr>
          <a:xfrm>
            <a:off x="2606040" y="228600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Strong for imbalanced data</a:t>
            </a:r>
            <a:endParaRPr lang="en-US" sz="1000" dirty="0"/>
          </a:p>
        </p:txBody>
      </p:sp>
      <p:sp>
        <p:nvSpPr>
          <p:cNvPr id="13" name="Shape 11"/>
          <p:cNvSpPr/>
          <p:nvPr/>
        </p:nvSpPr>
        <p:spPr>
          <a:xfrm>
            <a:off x="4754880" y="1371600"/>
            <a:ext cx="1920240" cy="128016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4" name="Text 12"/>
          <p:cNvSpPr/>
          <p:nvPr/>
        </p:nvSpPr>
        <p:spPr>
          <a:xfrm>
            <a:off x="4754880" y="1417320"/>
            <a:ext cx="1920240" cy="594360"/>
          </a:xfrm>
          <a:prstGeom prst="rect">
            <a:avLst/>
          </a:prstGeom>
          <a:noFill/>
          <a:ln/>
        </p:spPr>
        <p:txBody>
          <a:bodyPr wrap="square" lIns="0" tIns="0" rIns="0" bIns="0" rtlCol="0" anchor="ctr"/>
          <a:lstStyle/>
          <a:p>
            <a:pPr marL="0" indent="0" algn="ctr">
              <a:buNone/>
            </a:pPr>
            <a:r>
              <a:rPr lang="en-US" sz="3200" b="1" dirty="0">
                <a:solidFill>
                  <a:srgbClr val="3B82F6"/>
                </a:solidFill>
                <a:latin typeface="Georgia" pitchFamily="34" charset="0"/>
                <a:ea typeface="Georgia" pitchFamily="34" charset="-122"/>
                <a:cs typeface="Georgia" pitchFamily="34" charset="-120"/>
              </a:rPr>
              <a:t>0.133</a:t>
            </a:r>
            <a:endParaRPr lang="en-US" sz="3200" dirty="0"/>
          </a:p>
        </p:txBody>
      </p:sp>
      <p:sp>
        <p:nvSpPr>
          <p:cNvPr id="15" name="Text 13"/>
          <p:cNvSpPr/>
          <p:nvPr/>
        </p:nvSpPr>
        <p:spPr>
          <a:xfrm>
            <a:off x="4754880" y="2011680"/>
            <a:ext cx="192024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Brier Score</a:t>
            </a:r>
            <a:endParaRPr lang="en-US" sz="1400" dirty="0"/>
          </a:p>
        </p:txBody>
      </p:sp>
      <p:sp>
        <p:nvSpPr>
          <p:cNvPr id="16" name="Text 14"/>
          <p:cNvSpPr/>
          <p:nvPr/>
        </p:nvSpPr>
        <p:spPr>
          <a:xfrm>
            <a:off x="4754880" y="228600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Well-calibrated probabilities</a:t>
            </a:r>
            <a:endParaRPr lang="en-US" sz="1000" dirty="0"/>
          </a:p>
        </p:txBody>
      </p:sp>
      <p:sp>
        <p:nvSpPr>
          <p:cNvPr id="17" name="Shape 15"/>
          <p:cNvSpPr/>
          <p:nvPr/>
        </p:nvSpPr>
        <p:spPr>
          <a:xfrm>
            <a:off x="6903720" y="1371600"/>
            <a:ext cx="1920240" cy="128016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8" name="Text 16"/>
          <p:cNvSpPr/>
          <p:nvPr/>
        </p:nvSpPr>
        <p:spPr>
          <a:xfrm>
            <a:off x="6903720" y="1417320"/>
            <a:ext cx="1920240" cy="594360"/>
          </a:xfrm>
          <a:prstGeom prst="rect">
            <a:avLst/>
          </a:prstGeom>
          <a:noFill/>
          <a:ln/>
        </p:spPr>
        <p:txBody>
          <a:bodyPr wrap="square" lIns="0" tIns="0" rIns="0" bIns="0" rtlCol="0" anchor="ctr"/>
          <a:lstStyle/>
          <a:p>
            <a:pPr marL="0" indent="0" algn="ctr">
              <a:buNone/>
            </a:pPr>
            <a:r>
              <a:rPr lang="en-US" sz="3200" b="1" dirty="0">
                <a:solidFill>
                  <a:srgbClr val="3B82F6"/>
                </a:solidFill>
                <a:latin typeface="Georgia" pitchFamily="34" charset="0"/>
                <a:ea typeface="Georgia" pitchFamily="34" charset="-122"/>
                <a:cs typeface="Georgia" pitchFamily="34" charset="-120"/>
              </a:rPr>
              <a:t>0.549</a:t>
            </a:r>
            <a:endParaRPr lang="en-US" sz="3200" dirty="0"/>
          </a:p>
        </p:txBody>
      </p:sp>
      <p:sp>
        <p:nvSpPr>
          <p:cNvPr id="19" name="Text 17"/>
          <p:cNvSpPr/>
          <p:nvPr/>
        </p:nvSpPr>
        <p:spPr>
          <a:xfrm>
            <a:off x="6903720" y="2011680"/>
            <a:ext cx="192024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F1 Score</a:t>
            </a:r>
            <a:endParaRPr lang="en-US" sz="1400" dirty="0"/>
          </a:p>
        </p:txBody>
      </p:sp>
      <p:sp>
        <p:nvSpPr>
          <p:cNvPr id="20" name="Text 18"/>
          <p:cNvSpPr/>
          <p:nvPr/>
        </p:nvSpPr>
        <p:spPr>
          <a:xfrm>
            <a:off x="6903720" y="228600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Balanced precision/recall</a:t>
            </a:r>
            <a:endParaRPr lang="en-US" sz="1000" dirty="0"/>
          </a:p>
        </p:txBody>
      </p:sp>
      <p:sp>
        <p:nvSpPr>
          <p:cNvPr id="21" name="Text 19"/>
          <p:cNvSpPr/>
          <p:nvPr/>
        </p:nvSpPr>
        <p:spPr>
          <a:xfrm>
            <a:off x="731520" y="2926080"/>
            <a:ext cx="4572000" cy="32004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Confusion Matrix (threshold = 0.30)</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31520" y="3291840"/>
          <a:ext cx="4114800" cy="1463040"/>
        </p:xfrm>
        <a:graphic>
          <a:graphicData uri="http://schemas.openxmlformats.org/drawingml/2006/table">
            <a:tbl>
              <a:tblPr/>
              <a:tblGrid>
                <a:gridCol w="11887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87680">
                <a:tc>
                  <a:txBody>
                    <a:bodyPr/>
                    <a:lstStyle/>
                    <a:p>
                      <a:pPr marL="0" indent="0" algn="ctr">
                        <a:buNone/>
                      </a:pPr>
                      <a:endParaRPr lang="en-US" sz="12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b="1" dirty="0">
                          <a:solidFill>
                            <a:srgbClr val="FFFFFF"/>
                          </a:solidFill>
                        </a:rPr>
                        <a:t>Predicted</a:t>
                      </a:r>
                      <a:endParaRPr lang="en-US" sz="1100" dirty="0"/>
                    </a:p>
                    <a:p>
                      <a:pPr marL="0" indent="0" algn="ctr">
                        <a:buNone/>
                      </a:pPr>
                      <a:r>
                        <a:rPr lang="en-US" sz="1100" b="1" dirty="0">
                          <a:solidFill>
                            <a:srgbClr val="FFFFFF"/>
                          </a:solidFill>
                        </a:rPr>
                        <a:t>No Default</a:t>
                      </a:r>
                      <a:endParaRPr lang="en-US" sz="11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rPr>
                        <a:t>Predicted</a:t>
                      </a:r>
                      <a:endParaRPr lang="en-US" sz="1100" dirty="0"/>
                    </a:p>
                    <a:p>
                      <a:pPr marL="0" indent="0" algn="ctr">
                        <a:buNone/>
                      </a:pPr>
                      <a:r>
                        <a:rPr lang="en-US" sz="1100" b="1" dirty="0">
                          <a:solidFill>
                            <a:srgbClr val="FFFFFF"/>
                          </a:solidFill>
                        </a:rPr>
                        <a:t>Default</a:t>
                      </a:r>
                      <a:endParaRPr lang="en-US" sz="11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87680">
                <a:tc>
                  <a:txBody>
                    <a:bodyPr/>
                    <a:lstStyle/>
                    <a:p>
                      <a:pPr marL="0" indent="0" algn="ctr">
                        <a:buNone/>
                      </a:pPr>
                      <a:r>
                        <a:rPr lang="en-US" sz="1100" b="1" dirty="0">
                          <a:solidFill>
                            <a:srgbClr val="FFFFFF"/>
                          </a:solidFill>
                        </a:rPr>
                        <a:t>Actual</a:t>
                      </a:r>
                      <a:endParaRPr lang="en-US" sz="1100" dirty="0"/>
                    </a:p>
                    <a:p>
                      <a:pPr marL="0" indent="0" algn="ctr">
                        <a:buNone/>
                      </a:pPr>
                      <a:r>
                        <a:rPr lang="en-US" sz="1100" b="1" dirty="0">
                          <a:solidFill>
                            <a:srgbClr val="FFFFFF"/>
                          </a:solidFill>
                        </a:rPr>
                        <a:t>No Default</a:t>
                      </a:r>
                      <a:endParaRPr lang="en-US" sz="11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1E293B"/>
                          </a:solidFill>
                        </a:rPr>
                        <a:t>3,072</a:t>
                      </a:r>
                      <a:endParaRPr lang="en-US" sz="14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tc>
                  <a:txBody>
                    <a:bodyPr/>
                    <a:lstStyle/>
                    <a:p>
                      <a:pPr marL="0" indent="0" algn="ctr">
                        <a:buNone/>
                      </a:pPr>
                      <a:r>
                        <a:rPr lang="en-US" sz="1400" dirty="0">
                          <a:solidFill>
                            <a:srgbClr val="1E293B"/>
                          </a:solidFill>
                        </a:rPr>
                        <a:t>433</a:t>
                      </a:r>
                      <a:endParaRPr lang="en-US" sz="14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E2E2"/>
                    </a:solidFill>
                  </a:tcPr>
                </a:tc>
                <a:extLst>
                  <a:ext uri="{0D108BD9-81ED-4DB2-BD59-A6C34878D82A}">
                    <a16:rowId xmlns:a16="http://schemas.microsoft.com/office/drawing/2014/main" val="10001"/>
                  </a:ext>
                </a:extLst>
              </a:tr>
              <a:tr h="487680">
                <a:tc>
                  <a:txBody>
                    <a:bodyPr/>
                    <a:lstStyle/>
                    <a:p>
                      <a:pPr marL="0" indent="0" algn="ctr">
                        <a:buNone/>
                      </a:pPr>
                      <a:r>
                        <a:rPr lang="en-US" sz="1100" b="1" dirty="0">
                          <a:solidFill>
                            <a:srgbClr val="FFFFFF"/>
                          </a:solidFill>
                        </a:rPr>
                        <a:t>Actual</a:t>
                      </a:r>
                      <a:endParaRPr lang="en-US" sz="1100" dirty="0"/>
                    </a:p>
                    <a:p>
                      <a:pPr marL="0" indent="0" algn="ctr">
                        <a:buNone/>
                      </a:pPr>
                      <a:r>
                        <a:rPr lang="en-US" sz="1100" b="1" dirty="0">
                          <a:solidFill>
                            <a:srgbClr val="FFFFFF"/>
                          </a:solidFill>
                        </a:rPr>
                        <a:t>Default</a:t>
                      </a:r>
                      <a:endParaRPr lang="en-US" sz="11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400" dirty="0">
                          <a:solidFill>
                            <a:srgbClr val="1E293B"/>
                          </a:solidFill>
                        </a:rPr>
                        <a:t>455</a:t>
                      </a:r>
                      <a:endParaRPr lang="en-US" sz="14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3C7"/>
                    </a:solidFill>
                  </a:tcPr>
                </a:tc>
                <a:tc>
                  <a:txBody>
                    <a:bodyPr/>
                    <a:lstStyle/>
                    <a:p>
                      <a:pPr marL="0" indent="0" algn="ctr">
                        <a:buNone/>
                      </a:pPr>
                      <a:r>
                        <a:rPr lang="en-US" sz="1400" b="1" dirty="0">
                          <a:solidFill>
                            <a:srgbClr val="1E293B"/>
                          </a:solidFill>
                        </a:rPr>
                        <a:t>540</a:t>
                      </a:r>
                      <a:endParaRPr lang="en-US" sz="14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2"/>
                  </a:ext>
                </a:extLst>
              </a:tr>
            </a:tbl>
          </a:graphicData>
        </a:graphic>
      </p:graphicFrame>
      <p:sp>
        <p:nvSpPr>
          <p:cNvPr id="23" name="Shape 20"/>
          <p:cNvSpPr/>
          <p:nvPr/>
        </p:nvSpPr>
        <p:spPr>
          <a:xfrm>
            <a:off x="5303520" y="2926080"/>
            <a:ext cx="3566160" cy="192024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24" name="Text 21"/>
          <p:cNvSpPr/>
          <p:nvPr/>
        </p:nvSpPr>
        <p:spPr>
          <a:xfrm>
            <a:off x="5486400" y="3017520"/>
            <a:ext cx="3200400" cy="27432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Reading the Matrix</a:t>
            </a:r>
            <a:endParaRPr lang="en-US" sz="1400" dirty="0"/>
          </a:p>
        </p:txBody>
      </p:sp>
      <p:sp>
        <p:nvSpPr>
          <p:cNvPr id="25" name="Text 22"/>
          <p:cNvSpPr/>
          <p:nvPr/>
        </p:nvSpPr>
        <p:spPr>
          <a:xfrm>
            <a:off x="5486400" y="3337560"/>
            <a:ext cx="3200400" cy="1371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We correctly identify 540 out of 995 defaulters (54.3% recall) while keeping precision at 55.5%.</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The lowered threshold (0.30 vs 0.50) catches more true defaults at the cost of some extra false alarms, which is the right trade-off for a credit risk application.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Credit Score Construction</a:t>
            </a:r>
            <a:endParaRPr lang="en-US" sz="3200" dirty="0"/>
          </a:p>
        </p:txBody>
      </p:sp>
      <p:sp>
        <p:nvSpPr>
          <p:cNvPr id="4" name="Text 2"/>
          <p:cNvSpPr/>
          <p:nvPr/>
        </p:nvSpPr>
        <p:spPr>
          <a:xfrm>
            <a:off x="731520" y="1005840"/>
            <a:ext cx="3657600" cy="32004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Score Scale</a:t>
            </a:r>
            <a:endParaRPr lang="en-US" sz="1800" dirty="0"/>
          </a:p>
        </p:txBody>
      </p:sp>
      <p:sp>
        <p:nvSpPr>
          <p:cNvPr id="5" name="Text 3"/>
          <p:cNvSpPr/>
          <p:nvPr/>
        </p:nvSpPr>
        <p:spPr>
          <a:xfrm>
            <a:off x="731520" y="1371600"/>
            <a:ext cx="7680960" cy="54864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We use a traditional odds-based score scale, similar to FICO scoring methodology. The base score (600) is set at the portfolio default rate. Points-to-double-odds (PDO) = 50, meaning every 50 extra points doubles the odds of being a good client.</a:t>
            </a:r>
            <a:endParaRPr lang="en-US" sz="1300" dirty="0"/>
          </a:p>
        </p:txBody>
      </p:sp>
      <p:sp>
        <p:nvSpPr>
          <p:cNvPr id="6" name="Shape 4"/>
          <p:cNvSpPr/>
          <p:nvPr/>
        </p:nvSpPr>
        <p:spPr>
          <a:xfrm>
            <a:off x="731520" y="2103120"/>
            <a:ext cx="7680960" cy="640080"/>
          </a:xfrm>
          <a:prstGeom prst="rect">
            <a:avLst/>
          </a:prstGeom>
          <a:solidFill>
            <a:srgbClr val="1B2A4A"/>
          </a:solidFill>
          <a:ln/>
        </p:spPr>
        <p:txBody>
          <a:bodyPr/>
          <a:lstStyle/>
          <a:p>
            <a:endParaRPr lang="fr-FR"/>
          </a:p>
        </p:txBody>
      </p:sp>
      <p:sp>
        <p:nvSpPr>
          <p:cNvPr id="7" name="Text 5"/>
          <p:cNvSpPr/>
          <p:nvPr/>
        </p:nvSpPr>
        <p:spPr>
          <a:xfrm>
            <a:off x="731520" y="2103120"/>
            <a:ext cx="768096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Score  =  Offset  +  Factor  x  ln( Good / Bad Odds )</a:t>
            </a:r>
            <a:endParaRPr lang="en-US" sz="1600" dirty="0"/>
          </a:p>
        </p:txBody>
      </p:sp>
      <p:sp>
        <p:nvSpPr>
          <p:cNvPr id="8" name="Text 6"/>
          <p:cNvSpPr/>
          <p:nvPr/>
        </p:nvSpPr>
        <p:spPr>
          <a:xfrm>
            <a:off x="731520" y="2423160"/>
            <a:ext cx="7680960" cy="320040"/>
          </a:xfrm>
          <a:prstGeom prst="rect">
            <a:avLst/>
          </a:prstGeom>
          <a:noFill/>
          <a:ln/>
        </p:spPr>
        <p:txBody>
          <a:bodyPr wrap="square" lIns="0" tIns="0" rIns="0" bIns="0" rtlCol="0" anchor="ctr"/>
          <a:lstStyle/>
          <a:p>
            <a:pPr marL="0" indent="0" algn="ctr">
              <a:buNone/>
            </a:pPr>
            <a:r>
              <a:rPr lang="en-US" sz="1200" dirty="0">
                <a:solidFill>
                  <a:srgbClr val="DBEAFE"/>
                </a:solidFill>
                <a:latin typeface="Calibri" pitchFamily="34" charset="0"/>
                <a:ea typeface="Calibri" pitchFamily="34" charset="-122"/>
                <a:cs typeface="Calibri" pitchFamily="34" charset="-120"/>
              </a:rPr>
              <a:t>Base Score = 600   |   PDO = 50   |   Factor = 72.1   |   Offset = 509.2</a:t>
            </a:r>
            <a:endParaRPr lang="en-US" sz="1200" dirty="0"/>
          </a:p>
        </p:txBody>
      </p:sp>
      <p:sp>
        <p:nvSpPr>
          <p:cNvPr id="9" name="Text 7"/>
          <p:cNvSpPr/>
          <p:nvPr/>
        </p:nvSpPr>
        <p:spPr>
          <a:xfrm>
            <a:off x="731520" y="3017520"/>
            <a:ext cx="3657600" cy="32004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Risk Bands (Test Set)</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7315200" cy="1554480"/>
        </p:xfrm>
        <a:graphic>
          <a:graphicData uri="http://schemas.openxmlformats.org/drawingml/2006/table">
            <a:tbl>
              <a:tblPr/>
              <a:tblGrid>
                <a:gridCol w="20116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590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Risk Band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Score Range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Default Rate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Share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5908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A - Very Low Risk</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1FAE5"/>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688 - 773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Approve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5908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B - Low Risk</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1FAE5"/>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656 - 687</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9.1%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Approve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5908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C - Medium Risk</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625 - 655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15.3%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Approve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5908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D - High Risk</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561 - 624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24.5%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Manual Review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59080">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E - Very High Risk</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350 - 560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57.0%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Reject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Probability Calibration</a:t>
            </a:r>
            <a:endParaRPr lang="en-US" sz="3200" dirty="0"/>
          </a:p>
        </p:txBody>
      </p:sp>
      <p:sp>
        <p:nvSpPr>
          <p:cNvPr id="4" name="Text 2"/>
          <p:cNvSpPr/>
          <p:nvPr/>
        </p:nvSpPr>
        <p:spPr>
          <a:xfrm>
            <a:off x="731520" y="1005840"/>
            <a:ext cx="3657600" cy="32004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Why calibrate?</a:t>
            </a:r>
            <a:endParaRPr lang="en-US" sz="1800" dirty="0"/>
          </a:p>
        </p:txBody>
      </p:sp>
      <p:sp>
        <p:nvSpPr>
          <p:cNvPr id="5" name="Text 3"/>
          <p:cNvSpPr/>
          <p:nvPr/>
        </p:nvSpPr>
        <p:spPr>
          <a:xfrm>
            <a:off x="731520" y="1371600"/>
            <a:ext cx="7680960" cy="54864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The credit score is built from predicted default probabilities, so these probabilities need to be reliable. If the model says 20% default probability, roughly 20% of those clients should actually default. We tested multiple calibration approaches to check and improve this.</a:t>
            </a:r>
            <a:endParaRPr lang="en-US" sz="1300" dirty="0"/>
          </a:p>
        </p:txBody>
      </p:sp>
      <p:sp>
        <p:nvSpPr>
          <p:cNvPr id="6" name="Text 4"/>
          <p:cNvSpPr/>
          <p:nvPr/>
        </p:nvSpPr>
        <p:spPr>
          <a:xfrm>
            <a:off x="731520" y="2103120"/>
            <a:ext cx="3657600" cy="32004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What we tested</a:t>
            </a:r>
            <a:endParaRPr lang="en-US" sz="1800" dirty="0"/>
          </a:p>
        </p:txBody>
      </p:sp>
      <p:sp>
        <p:nvSpPr>
          <p:cNvPr id="7" name="Shape 5"/>
          <p:cNvSpPr/>
          <p:nvPr/>
        </p:nvSpPr>
        <p:spPr>
          <a:xfrm>
            <a:off x="731520" y="2560320"/>
            <a:ext cx="54864" cy="228600"/>
          </a:xfrm>
          <a:prstGeom prst="rect">
            <a:avLst/>
          </a:prstGeom>
          <a:solidFill>
            <a:srgbClr val="3B82F6"/>
          </a:solidFill>
          <a:ln/>
        </p:spPr>
        <p:txBody>
          <a:bodyPr/>
          <a:lstStyle/>
          <a:p>
            <a:endParaRPr lang="fr-FR"/>
          </a:p>
        </p:txBody>
      </p:sp>
      <p:sp>
        <p:nvSpPr>
          <p:cNvPr id="8" name="Text 6"/>
          <p:cNvSpPr/>
          <p:nvPr/>
        </p:nvSpPr>
        <p:spPr>
          <a:xfrm>
            <a:off x="960120" y="2514600"/>
            <a:ext cx="201168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Raw models</a:t>
            </a:r>
            <a:endParaRPr lang="en-US" sz="1300" dirty="0"/>
          </a:p>
        </p:txBody>
      </p:sp>
      <p:sp>
        <p:nvSpPr>
          <p:cNvPr id="9" name="Text 7"/>
          <p:cNvSpPr/>
          <p:nvPr/>
        </p:nvSpPr>
        <p:spPr>
          <a:xfrm>
            <a:off x="3017520" y="2514600"/>
            <a:ext cx="566928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CatBoost, LightGBM, Logistic Regression without any post-hoc calibration</a:t>
            </a:r>
            <a:endParaRPr lang="en-US" sz="1200" dirty="0"/>
          </a:p>
        </p:txBody>
      </p:sp>
      <p:sp>
        <p:nvSpPr>
          <p:cNvPr id="10" name="Shape 8"/>
          <p:cNvSpPr/>
          <p:nvPr/>
        </p:nvSpPr>
        <p:spPr>
          <a:xfrm>
            <a:off x="731520" y="2944368"/>
            <a:ext cx="54864" cy="228600"/>
          </a:xfrm>
          <a:prstGeom prst="rect">
            <a:avLst/>
          </a:prstGeom>
          <a:solidFill>
            <a:srgbClr val="3B82F6"/>
          </a:solidFill>
          <a:ln/>
        </p:spPr>
        <p:txBody>
          <a:bodyPr/>
          <a:lstStyle/>
          <a:p>
            <a:endParaRPr lang="fr-FR"/>
          </a:p>
        </p:txBody>
      </p:sp>
      <p:sp>
        <p:nvSpPr>
          <p:cNvPr id="11" name="Text 9"/>
          <p:cNvSpPr/>
          <p:nvPr/>
        </p:nvSpPr>
        <p:spPr>
          <a:xfrm>
            <a:off x="960120" y="2898648"/>
            <a:ext cx="201168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Sigmoid (Platt)</a:t>
            </a:r>
            <a:endParaRPr lang="en-US" sz="1300" dirty="0"/>
          </a:p>
        </p:txBody>
      </p:sp>
      <p:sp>
        <p:nvSpPr>
          <p:cNvPr id="12" name="Text 10"/>
          <p:cNvSpPr/>
          <p:nvPr/>
        </p:nvSpPr>
        <p:spPr>
          <a:xfrm>
            <a:off x="3017520" y="2898648"/>
            <a:ext cx="566928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Fits a logistic curve to map raw outputs to calibrated probabilities</a:t>
            </a:r>
            <a:endParaRPr lang="en-US" sz="1200" dirty="0"/>
          </a:p>
        </p:txBody>
      </p:sp>
      <p:sp>
        <p:nvSpPr>
          <p:cNvPr id="13" name="Shape 11"/>
          <p:cNvSpPr/>
          <p:nvPr/>
        </p:nvSpPr>
        <p:spPr>
          <a:xfrm>
            <a:off x="731520" y="3328416"/>
            <a:ext cx="54864" cy="228600"/>
          </a:xfrm>
          <a:prstGeom prst="rect">
            <a:avLst/>
          </a:prstGeom>
          <a:solidFill>
            <a:srgbClr val="3B82F6"/>
          </a:solidFill>
          <a:ln/>
        </p:spPr>
        <p:txBody>
          <a:bodyPr/>
          <a:lstStyle/>
          <a:p>
            <a:endParaRPr lang="fr-FR"/>
          </a:p>
        </p:txBody>
      </p:sp>
      <p:sp>
        <p:nvSpPr>
          <p:cNvPr id="14" name="Text 12"/>
          <p:cNvSpPr/>
          <p:nvPr/>
        </p:nvSpPr>
        <p:spPr>
          <a:xfrm>
            <a:off x="960120" y="3282696"/>
            <a:ext cx="201168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Isotonic regression</a:t>
            </a:r>
            <a:endParaRPr lang="en-US" sz="1300" dirty="0"/>
          </a:p>
        </p:txBody>
      </p:sp>
      <p:sp>
        <p:nvSpPr>
          <p:cNvPr id="15" name="Text 13"/>
          <p:cNvSpPr/>
          <p:nvPr/>
        </p:nvSpPr>
        <p:spPr>
          <a:xfrm>
            <a:off x="3017520" y="3282696"/>
            <a:ext cx="566928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Non-parametric mapping, more flexible but can overfit on small samples</a:t>
            </a:r>
            <a:endParaRPr lang="en-US" sz="1200" dirty="0"/>
          </a:p>
        </p:txBody>
      </p:sp>
      <p:sp>
        <p:nvSpPr>
          <p:cNvPr id="16" name="Shape 14"/>
          <p:cNvSpPr/>
          <p:nvPr/>
        </p:nvSpPr>
        <p:spPr>
          <a:xfrm>
            <a:off x="457200" y="3657600"/>
            <a:ext cx="8229600" cy="1188720"/>
          </a:xfrm>
          <a:prstGeom prst="rect">
            <a:avLst/>
          </a:prstGeom>
          <a:solidFill>
            <a:srgbClr val="F0F4FF"/>
          </a:solidFill>
          <a:ln/>
          <a:effectLst>
            <a:outerShdw blurRad="76200" dist="25400" dir="8100000" algn="bl" rotWithShape="0">
              <a:srgbClr val="000000">
                <a:alpha val="10000"/>
              </a:srgbClr>
            </a:outerShdw>
          </a:effectLst>
        </p:spPr>
        <p:txBody>
          <a:bodyPr/>
          <a:lstStyle/>
          <a:p>
            <a:endParaRPr lang="fr-FR"/>
          </a:p>
        </p:txBody>
      </p:sp>
      <p:sp>
        <p:nvSpPr>
          <p:cNvPr id="17" name="Text 15"/>
          <p:cNvSpPr/>
          <p:nvPr/>
        </p:nvSpPr>
        <p:spPr>
          <a:xfrm>
            <a:off x="640080" y="3749040"/>
            <a:ext cx="1371600" cy="27432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Result</a:t>
            </a:r>
            <a:endParaRPr lang="en-US" sz="1600" dirty="0"/>
          </a:p>
        </p:txBody>
      </p:sp>
      <p:sp>
        <p:nvSpPr>
          <p:cNvPr id="18" name="Text 16"/>
          <p:cNvSpPr/>
          <p:nvPr/>
        </p:nvSpPr>
        <p:spPr>
          <a:xfrm>
            <a:off x="640080" y="4023360"/>
            <a:ext cx="7772400" cy="7315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CatBoost Plain (raw) was already well calibrated, with an expected calibration error (ECE) of just 0.009 on the test set. Sigmoid and isotonic calibration did not improve it significantly. We still built a calibrated score pipeline as a safety net, but in this case the raw model probabilities were already reliable.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Key Decisions &amp; Assumptions</a:t>
            </a:r>
            <a:endParaRPr lang="en-US" sz="3200" dirty="0"/>
          </a:p>
        </p:txBody>
      </p:sp>
      <p:sp>
        <p:nvSpPr>
          <p:cNvPr id="4" name="Shape 2"/>
          <p:cNvSpPr/>
          <p:nvPr/>
        </p:nvSpPr>
        <p:spPr>
          <a:xfrm>
            <a:off x="457200" y="1005840"/>
            <a:ext cx="393192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5" name="Shape 3"/>
          <p:cNvSpPr/>
          <p:nvPr/>
        </p:nvSpPr>
        <p:spPr>
          <a:xfrm>
            <a:off x="457200" y="1005840"/>
            <a:ext cx="54864" cy="1143000"/>
          </a:xfrm>
          <a:prstGeom prst="rect">
            <a:avLst/>
          </a:prstGeom>
          <a:solidFill>
            <a:srgbClr val="3B82F6"/>
          </a:solidFill>
          <a:ln/>
        </p:spPr>
        <p:txBody>
          <a:bodyPr/>
          <a:lstStyle/>
          <a:p>
            <a:endParaRPr lang="fr-FR"/>
          </a:p>
        </p:txBody>
      </p:sp>
      <p:sp>
        <p:nvSpPr>
          <p:cNvPr id="6" name="Text 4"/>
          <p:cNvSpPr/>
          <p:nvPr/>
        </p:nvSpPr>
        <p:spPr>
          <a:xfrm>
            <a:off x="640080" y="1078992"/>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Keep all rows</a:t>
            </a:r>
            <a:endParaRPr lang="en-US" sz="1400" dirty="0"/>
          </a:p>
        </p:txBody>
      </p:sp>
      <p:sp>
        <p:nvSpPr>
          <p:cNvPr id="7" name="Text 5"/>
          <p:cNvSpPr/>
          <p:nvPr/>
        </p:nvSpPr>
        <p:spPr>
          <a:xfrm>
            <a:off x="640080" y="1371600"/>
            <a:ext cx="356616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Rare categories and edge cases may contain risk signal. Dropping rows loses information and biases the sample. We flag anomalies instead of removing them.</a:t>
            </a:r>
            <a:endParaRPr lang="en-US" sz="1100" dirty="0"/>
          </a:p>
        </p:txBody>
      </p:sp>
      <p:sp>
        <p:nvSpPr>
          <p:cNvPr id="8" name="Shape 6"/>
          <p:cNvSpPr/>
          <p:nvPr/>
        </p:nvSpPr>
        <p:spPr>
          <a:xfrm>
            <a:off x="4754880" y="1005840"/>
            <a:ext cx="393192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9" name="Shape 7"/>
          <p:cNvSpPr/>
          <p:nvPr/>
        </p:nvSpPr>
        <p:spPr>
          <a:xfrm>
            <a:off x="4754880" y="1005840"/>
            <a:ext cx="54864" cy="1143000"/>
          </a:xfrm>
          <a:prstGeom prst="rect">
            <a:avLst/>
          </a:prstGeom>
          <a:solidFill>
            <a:srgbClr val="0D9488"/>
          </a:solidFill>
          <a:ln/>
        </p:spPr>
        <p:txBody>
          <a:bodyPr/>
          <a:lstStyle/>
          <a:p>
            <a:endParaRPr lang="fr-FR"/>
          </a:p>
        </p:txBody>
      </p:sp>
      <p:sp>
        <p:nvSpPr>
          <p:cNvPr id="10" name="Text 8"/>
          <p:cNvSpPr/>
          <p:nvPr/>
        </p:nvSpPr>
        <p:spPr>
          <a:xfrm>
            <a:off x="4937760" y="1078992"/>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PR-AUC over accuracy</a:t>
            </a:r>
            <a:endParaRPr lang="en-US" sz="1400" dirty="0"/>
          </a:p>
        </p:txBody>
      </p:sp>
      <p:sp>
        <p:nvSpPr>
          <p:cNvPr id="11" name="Text 9"/>
          <p:cNvSpPr/>
          <p:nvPr/>
        </p:nvSpPr>
        <p:spPr>
          <a:xfrm>
            <a:off x="4937760" y="1371600"/>
            <a:ext cx="356616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With 22% defaults, accuracy is misleading. PR-AUC directly measures how well we catch defaulters with high confidence.</a:t>
            </a:r>
            <a:endParaRPr lang="en-US" sz="1100" dirty="0"/>
          </a:p>
        </p:txBody>
      </p:sp>
      <p:sp>
        <p:nvSpPr>
          <p:cNvPr id="12" name="Shape 10"/>
          <p:cNvSpPr/>
          <p:nvPr/>
        </p:nvSpPr>
        <p:spPr>
          <a:xfrm>
            <a:off x="457200" y="2331720"/>
            <a:ext cx="393192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13" name="Shape 11"/>
          <p:cNvSpPr/>
          <p:nvPr/>
        </p:nvSpPr>
        <p:spPr>
          <a:xfrm>
            <a:off x="457200" y="2331720"/>
            <a:ext cx="54864" cy="1143000"/>
          </a:xfrm>
          <a:prstGeom prst="rect">
            <a:avLst/>
          </a:prstGeom>
          <a:solidFill>
            <a:srgbClr val="3B82F6"/>
          </a:solidFill>
          <a:ln/>
        </p:spPr>
        <p:txBody>
          <a:bodyPr/>
          <a:lstStyle/>
          <a:p>
            <a:endParaRPr lang="fr-FR"/>
          </a:p>
        </p:txBody>
      </p:sp>
      <p:sp>
        <p:nvSpPr>
          <p:cNvPr id="14" name="Text 12"/>
          <p:cNvSpPr/>
          <p:nvPr/>
        </p:nvSpPr>
        <p:spPr>
          <a:xfrm>
            <a:off x="640080" y="2404872"/>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Tune threshold on validation F1</a:t>
            </a:r>
            <a:endParaRPr lang="en-US" sz="1400" dirty="0"/>
          </a:p>
        </p:txBody>
      </p:sp>
      <p:sp>
        <p:nvSpPr>
          <p:cNvPr id="15" name="Text 13"/>
          <p:cNvSpPr/>
          <p:nvPr/>
        </p:nvSpPr>
        <p:spPr>
          <a:xfrm>
            <a:off x="640080" y="2697480"/>
            <a:ext cx="356616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default 0.50 threshold is not optimal for an imbalanced problem. Tuning it on validation data gives better recall without overfitting to the test set.</a:t>
            </a:r>
            <a:endParaRPr lang="en-US" sz="1100" dirty="0"/>
          </a:p>
        </p:txBody>
      </p:sp>
      <p:sp>
        <p:nvSpPr>
          <p:cNvPr id="16" name="Shape 14"/>
          <p:cNvSpPr/>
          <p:nvPr/>
        </p:nvSpPr>
        <p:spPr>
          <a:xfrm>
            <a:off x="4754880" y="2331720"/>
            <a:ext cx="393192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17" name="Shape 15"/>
          <p:cNvSpPr/>
          <p:nvPr/>
        </p:nvSpPr>
        <p:spPr>
          <a:xfrm>
            <a:off x="4754880" y="2331720"/>
            <a:ext cx="54864" cy="1143000"/>
          </a:xfrm>
          <a:prstGeom prst="rect">
            <a:avLst/>
          </a:prstGeom>
          <a:solidFill>
            <a:srgbClr val="0D9488"/>
          </a:solidFill>
          <a:ln/>
        </p:spPr>
        <p:txBody>
          <a:bodyPr/>
          <a:lstStyle/>
          <a:p>
            <a:endParaRPr lang="fr-FR"/>
          </a:p>
        </p:txBody>
      </p:sp>
      <p:sp>
        <p:nvSpPr>
          <p:cNvPr id="18" name="Text 16"/>
          <p:cNvSpPr/>
          <p:nvPr/>
        </p:nvSpPr>
        <p:spPr>
          <a:xfrm>
            <a:off x="4937760" y="2404872"/>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Retrain on train+validation for test</a:t>
            </a:r>
            <a:endParaRPr lang="en-US" sz="1400" dirty="0"/>
          </a:p>
        </p:txBody>
      </p:sp>
      <p:sp>
        <p:nvSpPr>
          <p:cNvPr id="19" name="Text 17"/>
          <p:cNvSpPr/>
          <p:nvPr/>
        </p:nvSpPr>
        <p:spPr>
          <a:xfrm>
            <a:off x="4937760" y="2697480"/>
            <a:ext cx="356616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Once the model and threshold are chosen, we retrain on all non-test data to maximize the information available to the final model.</a:t>
            </a:r>
            <a:endParaRPr lang="en-US" sz="1100" dirty="0"/>
          </a:p>
        </p:txBody>
      </p:sp>
      <p:sp>
        <p:nvSpPr>
          <p:cNvPr id="20" name="Shape 18"/>
          <p:cNvSpPr/>
          <p:nvPr/>
        </p:nvSpPr>
        <p:spPr>
          <a:xfrm>
            <a:off x="457200" y="3657600"/>
            <a:ext cx="393192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21" name="Shape 19"/>
          <p:cNvSpPr/>
          <p:nvPr/>
        </p:nvSpPr>
        <p:spPr>
          <a:xfrm>
            <a:off x="457200" y="3657600"/>
            <a:ext cx="54864" cy="1143000"/>
          </a:xfrm>
          <a:prstGeom prst="rect">
            <a:avLst/>
          </a:prstGeom>
          <a:solidFill>
            <a:srgbClr val="3B82F6"/>
          </a:solidFill>
          <a:ln/>
        </p:spPr>
        <p:txBody>
          <a:bodyPr/>
          <a:lstStyle/>
          <a:p>
            <a:endParaRPr lang="fr-FR"/>
          </a:p>
        </p:txBody>
      </p:sp>
      <p:sp>
        <p:nvSpPr>
          <p:cNvPr id="22" name="Text 20"/>
          <p:cNvSpPr/>
          <p:nvPr/>
        </p:nvSpPr>
        <p:spPr>
          <a:xfrm>
            <a:off x="640080" y="3730752"/>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Simple initial policy</a:t>
            </a:r>
            <a:endParaRPr lang="en-US" sz="1400" dirty="0"/>
          </a:p>
        </p:txBody>
      </p:sp>
      <p:sp>
        <p:nvSpPr>
          <p:cNvPr id="23" name="Text 21"/>
          <p:cNvSpPr/>
          <p:nvPr/>
        </p:nvSpPr>
        <p:spPr>
          <a:xfrm>
            <a:off x="640080" y="4023360"/>
            <a:ext cx="356616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approve/review/reject cutoffs are starting rules. In production, they would be tuned based on the bank's loss function and risk appetite.</a:t>
            </a:r>
            <a:endParaRPr lang="en-US" sz="1100" dirty="0"/>
          </a:p>
        </p:txBody>
      </p:sp>
      <p:sp>
        <p:nvSpPr>
          <p:cNvPr id="24" name="Shape 22"/>
          <p:cNvSpPr/>
          <p:nvPr/>
        </p:nvSpPr>
        <p:spPr>
          <a:xfrm>
            <a:off x="4754880" y="3657600"/>
            <a:ext cx="3931920" cy="1143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fr-FR"/>
          </a:p>
        </p:txBody>
      </p:sp>
      <p:sp>
        <p:nvSpPr>
          <p:cNvPr id="25" name="Shape 23"/>
          <p:cNvSpPr/>
          <p:nvPr/>
        </p:nvSpPr>
        <p:spPr>
          <a:xfrm>
            <a:off x="4754880" y="3657600"/>
            <a:ext cx="54864" cy="1143000"/>
          </a:xfrm>
          <a:prstGeom prst="rect">
            <a:avLst/>
          </a:prstGeom>
          <a:solidFill>
            <a:srgbClr val="0D9488"/>
          </a:solidFill>
          <a:ln/>
        </p:spPr>
        <p:txBody>
          <a:bodyPr/>
          <a:lstStyle/>
          <a:p>
            <a:endParaRPr lang="fr-FR"/>
          </a:p>
        </p:txBody>
      </p:sp>
      <p:sp>
        <p:nvSpPr>
          <p:cNvPr id="26" name="Text 24"/>
          <p:cNvSpPr/>
          <p:nvPr/>
        </p:nvSpPr>
        <p:spPr>
          <a:xfrm>
            <a:off x="4937760" y="3730752"/>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Odds-based score with PDO=50</a:t>
            </a:r>
            <a:endParaRPr lang="en-US" sz="1400" dirty="0"/>
          </a:p>
        </p:txBody>
      </p:sp>
      <p:sp>
        <p:nvSpPr>
          <p:cNvPr id="27" name="Text 25"/>
          <p:cNvSpPr/>
          <p:nvPr/>
        </p:nvSpPr>
        <p:spPr>
          <a:xfrm>
            <a:off x="4937760" y="4023360"/>
            <a:ext cx="3566160" cy="6858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This is standard in the credit industry. It makes the score interpretable: every 50 extra points means the client is twice as likely to be good.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Summary &amp; Takeaways</a:t>
            </a:r>
            <a:endParaRPr lang="en-US" sz="3600" dirty="0"/>
          </a:p>
        </p:txBody>
      </p:sp>
      <p:sp>
        <p:nvSpPr>
          <p:cNvPr id="4" name="Shape 2"/>
          <p:cNvSpPr/>
          <p:nvPr/>
        </p:nvSpPr>
        <p:spPr>
          <a:xfrm>
            <a:off x="457200" y="1097280"/>
            <a:ext cx="1463040" cy="822960"/>
          </a:xfrm>
          <a:prstGeom prst="rect">
            <a:avLst/>
          </a:prstGeom>
          <a:solidFill>
            <a:srgbClr val="243B6A"/>
          </a:solidFill>
          <a:ln/>
        </p:spPr>
        <p:txBody>
          <a:bodyPr/>
          <a:lstStyle/>
          <a:p>
            <a:endParaRPr lang="fr-FR"/>
          </a:p>
        </p:txBody>
      </p:sp>
      <p:sp>
        <p:nvSpPr>
          <p:cNvPr id="5" name="Text 3"/>
          <p:cNvSpPr/>
          <p:nvPr/>
        </p:nvSpPr>
        <p:spPr>
          <a:xfrm>
            <a:off x="457200" y="1115568"/>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30K rows</a:t>
            </a:r>
            <a:endParaRPr lang="en-US" sz="1600" dirty="0"/>
          </a:p>
        </p:txBody>
      </p:sp>
      <p:sp>
        <p:nvSpPr>
          <p:cNvPr id="6" name="Text 4"/>
          <p:cNvSpPr/>
          <p:nvPr/>
        </p:nvSpPr>
        <p:spPr>
          <a:xfrm>
            <a:off x="457200" y="1572768"/>
            <a:ext cx="1463040" cy="274320"/>
          </a:xfrm>
          <a:prstGeom prst="rect">
            <a:avLst/>
          </a:prstGeom>
          <a:noFill/>
          <a:ln/>
        </p:spPr>
        <p:txBody>
          <a:bodyPr wrap="square" lIns="0" tIns="0" rIns="0" bIns="0"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Raw data</a:t>
            </a:r>
            <a:endParaRPr lang="en-US" sz="1100" dirty="0"/>
          </a:p>
        </p:txBody>
      </p:sp>
      <p:sp>
        <p:nvSpPr>
          <p:cNvPr id="7" name="Text 5"/>
          <p:cNvSpPr/>
          <p:nvPr/>
        </p:nvSpPr>
        <p:spPr>
          <a:xfrm>
            <a:off x="1920240" y="1234440"/>
            <a:ext cx="274320" cy="457200"/>
          </a:xfrm>
          <a:prstGeom prst="rect">
            <a:avLst/>
          </a:prstGeom>
          <a:noFill/>
          <a:ln/>
        </p:spPr>
        <p:txBody>
          <a:bodyPr wrap="square" lIns="0" tIns="0" rIns="0" bIns="0" rtlCol="0" anchor="ctr"/>
          <a:lstStyle/>
          <a:p>
            <a:pPr marL="0" indent="0" algn="ctr">
              <a:buNone/>
            </a:pPr>
            <a:r>
              <a:rPr lang="en-US" sz="2000" dirty="0">
                <a:solidFill>
                  <a:srgbClr val="3B82F6"/>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194560" y="1097280"/>
            <a:ext cx="1463040" cy="822960"/>
          </a:xfrm>
          <a:prstGeom prst="rect">
            <a:avLst/>
          </a:prstGeom>
          <a:solidFill>
            <a:srgbClr val="243B6A"/>
          </a:solidFill>
          <a:ln/>
        </p:spPr>
        <p:txBody>
          <a:bodyPr/>
          <a:lstStyle/>
          <a:p>
            <a:endParaRPr lang="fr-FR"/>
          </a:p>
        </p:txBody>
      </p:sp>
      <p:sp>
        <p:nvSpPr>
          <p:cNvPr id="9" name="Text 7"/>
          <p:cNvSpPr/>
          <p:nvPr/>
        </p:nvSpPr>
        <p:spPr>
          <a:xfrm>
            <a:off x="2194560" y="1115568"/>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63 features</a:t>
            </a:r>
            <a:endParaRPr lang="en-US" sz="1600" dirty="0"/>
          </a:p>
        </p:txBody>
      </p:sp>
      <p:sp>
        <p:nvSpPr>
          <p:cNvPr id="10" name="Text 8"/>
          <p:cNvSpPr/>
          <p:nvPr/>
        </p:nvSpPr>
        <p:spPr>
          <a:xfrm>
            <a:off x="2194560" y="1572768"/>
            <a:ext cx="1463040" cy="274320"/>
          </a:xfrm>
          <a:prstGeom prst="rect">
            <a:avLst/>
          </a:prstGeom>
          <a:noFill/>
          <a:ln/>
        </p:spPr>
        <p:txBody>
          <a:bodyPr wrap="square" lIns="0" tIns="0" rIns="0" bIns="0"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Engineered</a:t>
            </a:r>
            <a:endParaRPr lang="en-US" sz="1100" dirty="0"/>
          </a:p>
        </p:txBody>
      </p:sp>
      <p:sp>
        <p:nvSpPr>
          <p:cNvPr id="11" name="Text 9"/>
          <p:cNvSpPr/>
          <p:nvPr/>
        </p:nvSpPr>
        <p:spPr>
          <a:xfrm>
            <a:off x="3657600" y="1234440"/>
            <a:ext cx="274320" cy="457200"/>
          </a:xfrm>
          <a:prstGeom prst="rect">
            <a:avLst/>
          </a:prstGeom>
          <a:noFill/>
          <a:ln/>
        </p:spPr>
        <p:txBody>
          <a:bodyPr wrap="square" lIns="0" tIns="0" rIns="0" bIns="0" rtlCol="0" anchor="ctr"/>
          <a:lstStyle/>
          <a:p>
            <a:pPr marL="0" indent="0" algn="ctr">
              <a:buNone/>
            </a:pPr>
            <a:r>
              <a:rPr lang="en-US" sz="2000" dirty="0">
                <a:solidFill>
                  <a:srgbClr val="3B82F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931920" y="1097280"/>
            <a:ext cx="1463040" cy="822960"/>
          </a:xfrm>
          <a:prstGeom prst="rect">
            <a:avLst/>
          </a:prstGeom>
          <a:solidFill>
            <a:srgbClr val="243B6A"/>
          </a:solidFill>
          <a:ln/>
        </p:spPr>
        <p:txBody>
          <a:bodyPr/>
          <a:lstStyle/>
          <a:p>
            <a:endParaRPr lang="fr-FR"/>
          </a:p>
        </p:txBody>
      </p:sp>
      <p:sp>
        <p:nvSpPr>
          <p:cNvPr id="13" name="Text 11"/>
          <p:cNvSpPr/>
          <p:nvPr/>
        </p:nvSpPr>
        <p:spPr>
          <a:xfrm>
            <a:off x="3931920" y="1115568"/>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CatBoost</a:t>
            </a:r>
            <a:endParaRPr lang="en-US" sz="1600" dirty="0"/>
          </a:p>
        </p:txBody>
      </p:sp>
      <p:sp>
        <p:nvSpPr>
          <p:cNvPr id="14" name="Text 12"/>
          <p:cNvSpPr/>
          <p:nvPr/>
        </p:nvSpPr>
        <p:spPr>
          <a:xfrm>
            <a:off x="3931920" y="1572768"/>
            <a:ext cx="1463040" cy="274320"/>
          </a:xfrm>
          <a:prstGeom prst="rect">
            <a:avLst/>
          </a:prstGeom>
          <a:noFill/>
          <a:ln/>
        </p:spPr>
        <p:txBody>
          <a:bodyPr wrap="square" lIns="0" tIns="0" rIns="0" bIns="0"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Best model</a:t>
            </a:r>
            <a:endParaRPr lang="en-US" sz="1100" dirty="0"/>
          </a:p>
        </p:txBody>
      </p:sp>
      <p:sp>
        <p:nvSpPr>
          <p:cNvPr id="15" name="Text 13"/>
          <p:cNvSpPr/>
          <p:nvPr/>
        </p:nvSpPr>
        <p:spPr>
          <a:xfrm>
            <a:off x="5394960" y="1234440"/>
            <a:ext cx="274320" cy="457200"/>
          </a:xfrm>
          <a:prstGeom prst="rect">
            <a:avLst/>
          </a:prstGeom>
          <a:noFill/>
          <a:ln/>
        </p:spPr>
        <p:txBody>
          <a:bodyPr wrap="square" lIns="0" tIns="0" rIns="0" bIns="0" rtlCol="0" anchor="ctr"/>
          <a:lstStyle/>
          <a:p>
            <a:pPr marL="0" indent="0" algn="ctr">
              <a:buNone/>
            </a:pPr>
            <a:r>
              <a:rPr lang="en-US" sz="2000" dirty="0">
                <a:solidFill>
                  <a:srgbClr val="3B82F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669280" y="1097280"/>
            <a:ext cx="1463040" cy="822960"/>
          </a:xfrm>
          <a:prstGeom prst="rect">
            <a:avLst/>
          </a:prstGeom>
          <a:solidFill>
            <a:srgbClr val="243B6A"/>
          </a:solidFill>
          <a:ln/>
        </p:spPr>
        <p:txBody>
          <a:bodyPr/>
          <a:lstStyle/>
          <a:p>
            <a:endParaRPr lang="fr-FR"/>
          </a:p>
        </p:txBody>
      </p:sp>
      <p:sp>
        <p:nvSpPr>
          <p:cNvPr id="17" name="Text 15"/>
          <p:cNvSpPr/>
          <p:nvPr/>
        </p:nvSpPr>
        <p:spPr>
          <a:xfrm>
            <a:off x="5669280" y="1115568"/>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Calibrated</a:t>
            </a:r>
            <a:endParaRPr lang="en-US" sz="1600" dirty="0"/>
          </a:p>
        </p:txBody>
      </p:sp>
      <p:sp>
        <p:nvSpPr>
          <p:cNvPr id="18" name="Text 16"/>
          <p:cNvSpPr/>
          <p:nvPr/>
        </p:nvSpPr>
        <p:spPr>
          <a:xfrm>
            <a:off x="5669280" y="1572768"/>
            <a:ext cx="1463040" cy="274320"/>
          </a:xfrm>
          <a:prstGeom prst="rect">
            <a:avLst/>
          </a:prstGeom>
          <a:noFill/>
          <a:ln/>
        </p:spPr>
        <p:txBody>
          <a:bodyPr wrap="square" lIns="0" tIns="0" rIns="0" bIns="0"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Probabilities</a:t>
            </a:r>
            <a:endParaRPr lang="en-US" sz="1100" dirty="0"/>
          </a:p>
        </p:txBody>
      </p:sp>
      <p:sp>
        <p:nvSpPr>
          <p:cNvPr id="19" name="Text 17"/>
          <p:cNvSpPr/>
          <p:nvPr/>
        </p:nvSpPr>
        <p:spPr>
          <a:xfrm>
            <a:off x="7132320" y="1234440"/>
            <a:ext cx="274320" cy="457200"/>
          </a:xfrm>
          <a:prstGeom prst="rect">
            <a:avLst/>
          </a:prstGeom>
          <a:noFill/>
          <a:ln/>
        </p:spPr>
        <p:txBody>
          <a:bodyPr wrap="square" lIns="0" tIns="0" rIns="0" bIns="0" rtlCol="0" anchor="ctr"/>
          <a:lstStyle/>
          <a:p>
            <a:pPr marL="0" indent="0" algn="ctr">
              <a:buNone/>
            </a:pPr>
            <a:r>
              <a:rPr lang="en-US" sz="2000" dirty="0">
                <a:solidFill>
                  <a:srgbClr val="3B82F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406640" y="1097280"/>
            <a:ext cx="1463040" cy="822960"/>
          </a:xfrm>
          <a:prstGeom prst="rect">
            <a:avLst/>
          </a:prstGeom>
          <a:solidFill>
            <a:srgbClr val="243B6A"/>
          </a:solidFill>
          <a:ln/>
        </p:spPr>
        <p:txBody>
          <a:bodyPr/>
          <a:lstStyle/>
          <a:p>
            <a:endParaRPr lang="fr-FR"/>
          </a:p>
        </p:txBody>
      </p:sp>
      <p:sp>
        <p:nvSpPr>
          <p:cNvPr id="21" name="Text 19"/>
          <p:cNvSpPr/>
          <p:nvPr/>
        </p:nvSpPr>
        <p:spPr>
          <a:xfrm>
            <a:off x="7406640" y="1115568"/>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Score</a:t>
            </a:r>
            <a:endParaRPr lang="en-US" sz="1600" dirty="0"/>
          </a:p>
        </p:txBody>
      </p:sp>
      <p:sp>
        <p:nvSpPr>
          <p:cNvPr id="22" name="Text 20"/>
          <p:cNvSpPr/>
          <p:nvPr/>
        </p:nvSpPr>
        <p:spPr>
          <a:xfrm>
            <a:off x="7406640" y="1572768"/>
            <a:ext cx="1463040" cy="274320"/>
          </a:xfrm>
          <a:prstGeom prst="rect">
            <a:avLst/>
          </a:prstGeom>
          <a:noFill/>
          <a:ln/>
        </p:spPr>
        <p:txBody>
          <a:bodyPr wrap="square" lIns="0" tIns="0" rIns="0" bIns="0"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350-773</a:t>
            </a:r>
            <a:endParaRPr lang="en-US" sz="1100" dirty="0"/>
          </a:p>
        </p:txBody>
      </p:sp>
      <p:sp>
        <p:nvSpPr>
          <p:cNvPr id="23" name="Text 21"/>
          <p:cNvSpPr/>
          <p:nvPr/>
        </p:nvSpPr>
        <p:spPr>
          <a:xfrm>
            <a:off x="731520" y="2194560"/>
            <a:ext cx="3657600" cy="32004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Key Results</a:t>
            </a:r>
            <a:endParaRPr lang="en-US" sz="2000" dirty="0"/>
          </a:p>
        </p:txBody>
      </p:sp>
      <p:sp>
        <p:nvSpPr>
          <p:cNvPr id="24" name="Shape 22"/>
          <p:cNvSpPr/>
          <p:nvPr/>
        </p:nvSpPr>
        <p:spPr>
          <a:xfrm>
            <a:off x="731520" y="2670048"/>
            <a:ext cx="109728" cy="109728"/>
          </a:xfrm>
          <a:prstGeom prst="rect">
            <a:avLst/>
          </a:prstGeom>
          <a:solidFill>
            <a:srgbClr val="3B82F6"/>
          </a:solidFill>
          <a:ln/>
        </p:spPr>
        <p:txBody>
          <a:bodyPr/>
          <a:lstStyle/>
          <a:p>
            <a:endParaRPr lang="fr-FR"/>
          </a:p>
        </p:txBody>
      </p:sp>
      <p:sp>
        <p:nvSpPr>
          <p:cNvPr id="25" name="Text 23"/>
          <p:cNvSpPr/>
          <p:nvPr/>
        </p:nvSpPr>
        <p:spPr>
          <a:xfrm>
            <a:off x="1005840" y="2606040"/>
            <a:ext cx="7498080" cy="292608"/>
          </a:xfrm>
          <a:prstGeom prst="rect">
            <a:avLst/>
          </a:prstGeom>
          <a:noFill/>
          <a:ln/>
        </p:spPr>
        <p:txBody>
          <a:bodyPr wrap="square" lIns="0" tIns="0" rIns="0" bIns="0" rtlCol="0" anchor="ctr"/>
          <a:lstStyle/>
          <a:p>
            <a:pPr marL="0" indent="0">
              <a:buNone/>
            </a:pPr>
            <a:r>
              <a:rPr lang="en-US" sz="1300" dirty="0">
                <a:solidFill>
                  <a:srgbClr val="DBEAFE"/>
                </a:solidFill>
                <a:latin typeface="Calibri" pitchFamily="34" charset="0"/>
                <a:ea typeface="Calibri" pitchFamily="34" charset="-122"/>
                <a:cs typeface="Calibri" pitchFamily="34" charset="-120"/>
              </a:rPr>
              <a:t>ROC-AUC of 0.789 and PR-AUC of 0.573 on the test set</a:t>
            </a:r>
            <a:endParaRPr lang="en-US" sz="1300" dirty="0"/>
          </a:p>
        </p:txBody>
      </p:sp>
      <p:sp>
        <p:nvSpPr>
          <p:cNvPr id="26" name="Shape 24"/>
          <p:cNvSpPr/>
          <p:nvPr/>
        </p:nvSpPr>
        <p:spPr>
          <a:xfrm>
            <a:off x="731520" y="3035808"/>
            <a:ext cx="109728" cy="109728"/>
          </a:xfrm>
          <a:prstGeom prst="rect">
            <a:avLst/>
          </a:prstGeom>
          <a:solidFill>
            <a:srgbClr val="3B82F6"/>
          </a:solidFill>
          <a:ln/>
        </p:spPr>
        <p:txBody>
          <a:bodyPr/>
          <a:lstStyle/>
          <a:p>
            <a:endParaRPr lang="fr-FR"/>
          </a:p>
        </p:txBody>
      </p:sp>
      <p:sp>
        <p:nvSpPr>
          <p:cNvPr id="27" name="Text 25"/>
          <p:cNvSpPr/>
          <p:nvPr/>
        </p:nvSpPr>
        <p:spPr>
          <a:xfrm>
            <a:off x="1005840" y="2971800"/>
            <a:ext cx="7498080" cy="292608"/>
          </a:xfrm>
          <a:prstGeom prst="rect">
            <a:avLst/>
          </a:prstGeom>
          <a:noFill/>
          <a:ln/>
        </p:spPr>
        <p:txBody>
          <a:bodyPr wrap="square" lIns="0" tIns="0" rIns="0" bIns="0" rtlCol="0" anchor="ctr"/>
          <a:lstStyle/>
          <a:p>
            <a:pPr marL="0" indent="0">
              <a:buNone/>
            </a:pPr>
            <a:r>
              <a:rPr lang="en-US" sz="1300" dirty="0">
                <a:solidFill>
                  <a:srgbClr val="DBEAFE"/>
                </a:solidFill>
                <a:latin typeface="Calibri" pitchFamily="34" charset="0"/>
                <a:ea typeface="Calibri" pitchFamily="34" charset="-122"/>
                <a:cs typeface="Calibri" pitchFamily="34" charset="-120"/>
              </a:rPr>
              <a:t>Well-calibrated probabilities (ECE = 0.009) without post-hoc adjustment</a:t>
            </a:r>
            <a:endParaRPr lang="en-US" sz="1300" dirty="0"/>
          </a:p>
        </p:txBody>
      </p:sp>
      <p:sp>
        <p:nvSpPr>
          <p:cNvPr id="28" name="Shape 26"/>
          <p:cNvSpPr/>
          <p:nvPr/>
        </p:nvSpPr>
        <p:spPr>
          <a:xfrm>
            <a:off x="731520" y="3401568"/>
            <a:ext cx="109728" cy="109728"/>
          </a:xfrm>
          <a:prstGeom prst="rect">
            <a:avLst/>
          </a:prstGeom>
          <a:solidFill>
            <a:srgbClr val="3B82F6"/>
          </a:solidFill>
          <a:ln/>
        </p:spPr>
        <p:txBody>
          <a:bodyPr/>
          <a:lstStyle/>
          <a:p>
            <a:endParaRPr lang="fr-FR"/>
          </a:p>
        </p:txBody>
      </p:sp>
      <p:sp>
        <p:nvSpPr>
          <p:cNvPr id="29" name="Text 27"/>
          <p:cNvSpPr/>
          <p:nvPr/>
        </p:nvSpPr>
        <p:spPr>
          <a:xfrm>
            <a:off x="1005840" y="3337560"/>
            <a:ext cx="7498080" cy="292608"/>
          </a:xfrm>
          <a:prstGeom prst="rect">
            <a:avLst/>
          </a:prstGeom>
          <a:noFill/>
          <a:ln/>
        </p:spPr>
        <p:txBody>
          <a:bodyPr wrap="square" lIns="0" tIns="0" rIns="0" bIns="0" rtlCol="0" anchor="ctr"/>
          <a:lstStyle/>
          <a:p>
            <a:pPr marL="0" indent="0">
              <a:buNone/>
            </a:pPr>
            <a:r>
              <a:rPr lang="en-US" sz="1300" dirty="0">
                <a:solidFill>
                  <a:srgbClr val="DBEAFE"/>
                </a:solidFill>
                <a:latin typeface="Calibri" pitchFamily="34" charset="0"/>
                <a:ea typeface="Calibri" pitchFamily="34" charset="-122"/>
                <a:cs typeface="Calibri" pitchFamily="34" charset="-120"/>
              </a:rPr>
              <a:t>Score range 350-773 with monotonic default rates across 5 risk bands</a:t>
            </a:r>
            <a:endParaRPr lang="en-US" sz="1300" dirty="0"/>
          </a:p>
        </p:txBody>
      </p:sp>
      <p:sp>
        <p:nvSpPr>
          <p:cNvPr id="30" name="Shape 28"/>
          <p:cNvSpPr/>
          <p:nvPr/>
        </p:nvSpPr>
        <p:spPr>
          <a:xfrm>
            <a:off x="731520" y="3767328"/>
            <a:ext cx="109728" cy="109728"/>
          </a:xfrm>
          <a:prstGeom prst="rect">
            <a:avLst/>
          </a:prstGeom>
          <a:solidFill>
            <a:srgbClr val="3B82F6"/>
          </a:solidFill>
          <a:ln/>
        </p:spPr>
        <p:txBody>
          <a:bodyPr/>
          <a:lstStyle/>
          <a:p>
            <a:endParaRPr lang="fr-FR"/>
          </a:p>
        </p:txBody>
      </p:sp>
      <p:sp>
        <p:nvSpPr>
          <p:cNvPr id="31" name="Text 29"/>
          <p:cNvSpPr/>
          <p:nvPr/>
        </p:nvSpPr>
        <p:spPr>
          <a:xfrm>
            <a:off x="1005840" y="3703320"/>
            <a:ext cx="7498080" cy="292608"/>
          </a:xfrm>
          <a:prstGeom prst="rect">
            <a:avLst/>
          </a:prstGeom>
          <a:noFill/>
          <a:ln/>
        </p:spPr>
        <p:txBody>
          <a:bodyPr wrap="square" lIns="0" tIns="0" rIns="0" bIns="0" rtlCol="0" anchor="ctr"/>
          <a:lstStyle/>
          <a:p>
            <a:pPr marL="0" indent="0">
              <a:buNone/>
            </a:pPr>
            <a:r>
              <a:rPr lang="en-US" sz="1300" dirty="0">
                <a:solidFill>
                  <a:srgbClr val="DBEAFE"/>
                </a:solidFill>
                <a:latin typeface="Calibri" pitchFamily="34" charset="0"/>
                <a:ea typeface="Calibri" pitchFamily="34" charset="-122"/>
                <a:cs typeface="Calibri" pitchFamily="34" charset="-120"/>
              </a:rPr>
              <a:t>Simple policy: 60% approved (10% default rate), 20% manual review, 20% rejected</a:t>
            </a:r>
            <a:endParaRPr lang="en-US" sz="1300" dirty="0"/>
          </a:p>
        </p:txBody>
      </p:sp>
      <p:sp>
        <p:nvSpPr>
          <p:cNvPr id="32" name="Shape 30"/>
          <p:cNvSpPr/>
          <p:nvPr/>
        </p:nvSpPr>
        <p:spPr>
          <a:xfrm>
            <a:off x="731520" y="4133088"/>
            <a:ext cx="109728" cy="109728"/>
          </a:xfrm>
          <a:prstGeom prst="rect">
            <a:avLst/>
          </a:prstGeom>
          <a:solidFill>
            <a:srgbClr val="3B82F6"/>
          </a:solidFill>
          <a:ln/>
        </p:spPr>
        <p:txBody>
          <a:bodyPr/>
          <a:lstStyle/>
          <a:p>
            <a:endParaRPr lang="fr-FR"/>
          </a:p>
        </p:txBody>
      </p:sp>
      <p:sp>
        <p:nvSpPr>
          <p:cNvPr id="33" name="Text 31"/>
          <p:cNvSpPr/>
          <p:nvPr/>
        </p:nvSpPr>
        <p:spPr>
          <a:xfrm>
            <a:off x="1005840" y="4069080"/>
            <a:ext cx="7498080" cy="292608"/>
          </a:xfrm>
          <a:prstGeom prst="rect">
            <a:avLst/>
          </a:prstGeom>
          <a:noFill/>
          <a:ln/>
        </p:spPr>
        <p:txBody>
          <a:bodyPr wrap="square" lIns="0" tIns="0" rIns="0" bIns="0" rtlCol="0" anchor="ctr"/>
          <a:lstStyle/>
          <a:p>
            <a:pPr marL="0" indent="0">
              <a:buNone/>
            </a:pPr>
            <a:r>
              <a:rPr lang="en-US" sz="1300" dirty="0">
                <a:solidFill>
                  <a:srgbClr val="DBEAFE"/>
                </a:solidFill>
                <a:latin typeface="Calibri" pitchFamily="34" charset="0"/>
                <a:ea typeface="Calibri" pitchFamily="34" charset="-122"/>
                <a:cs typeface="Calibri" pitchFamily="34" charset="-120"/>
              </a:rPr>
              <a:t>Repayment behavior is the dominant risk factor, confirming domain intuition</a:t>
            </a:r>
            <a:endParaRPr lang="en-US" sz="1300" dirty="0"/>
          </a:p>
        </p:txBody>
      </p:sp>
      <p:sp>
        <p:nvSpPr>
          <p:cNvPr id="34" name="Shape 32"/>
          <p:cNvSpPr/>
          <p:nvPr/>
        </p:nvSpPr>
        <p:spPr>
          <a:xfrm>
            <a:off x="731520" y="4498848"/>
            <a:ext cx="109728" cy="109728"/>
          </a:xfrm>
          <a:prstGeom prst="rect">
            <a:avLst/>
          </a:prstGeom>
          <a:solidFill>
            <a:srgbClr val="3B82F6"/>
          </a:solidFill>
          <a:ln/>
        </p:spPr>
        <p:txBody>
          <a:bodyPr/>
          <a:lstStyle/>
          <a:p>
            <a:endParaRPr lang="fr-FR"/>
          </a:p>
        </p:txBody>
      </p:sp>
      <p:sp>
        <p:nvSpPr>
          <p:cNvPr id="35" name="Text 33"/>
          <p:cNvSpPr/>
          <p:nvPr/>
        </p:nvSpPr>
        <p:spPr>
          <a:xfrm>
            <a:off x="1005840" y="4434840"/>
            <a:ext cx="7498080" cy="292608"/>
          </a:xfrm>
          <a:prstGeom prst="rect">
            <a:avLst/>
          </a:prstGeom>
          <a:noFill/>
          <a:ln/>
        </p:spPr>
        <p:txBody>
          <a:bodyPr wrap="square" lIns="0" tIns="0" rIns="0" bIns="0" rtlCol="0" anchor="ctr"/>
          <a:lstStyle/>
          <a:p>
            <a:pPr marL="0" indent="0">
              <a:buNone/>
            </a:pPr>
            <a:r>
              <a:rPr lang="en-US" sz="1300" dirty="0">
                <a:solidFill>
                  <a:srgbClr val="DBEAFE"/>
                </a:solidFill>
                <a:latin typeface="Calibri" pitchFamily="34" charset="0"/>
                <a:ea typeface="Calibri" pitchFamily="34" charset="-122"/>
                <a:cs typeface="Calibri" pitchFamily="34" charset="-120"/>
              </a:rPr>
              <a:t>All preprocessing inside pipelines, no data leakage, reproducible workflow</a:t>
            </a:r>
            <a:endParaRPr lang="en-US" sz="1300" dirty="0"/>
          </a:p>
        </p:txBody>
      </p:sp>
      <p:sp>
        <p:nvSpPr>
          <p:cNvPr id="36" name="Shape 34"/>
          <p:cNvSpPr/>
          <p:nvPr/>
        </p:nvSpPr>
        <p:spPr>
          <a:xfrm>
            <a:off x="0" y="5088636"/>
            <a:ext cx="9144000" cy="54864"/>
          </a:xfrm>
          <a:prstGeom prst="rect">
            <a:avLst/>
          </a:prstGeom>
          <a:solidFill>
            <a:srgbClr val="3B82F6"/>
          </a:solidFill>
          <a:ln/>
        </p:spPr>
        <p:txBody>
          <a:bodyPr/>
          <a:lstStyle/>
          <a:p>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fr-FR"/>
          </a:p>
        </p:txBody>
      </p:sp>
      <p:sp>
        <p:nvSpPr>
          <p:cNvPr id="3" name="Text 1"/>
          <p:cNvSpPr/>
          <p:nvPr/>
        </p:nvSpPr>
        <p:spPr>
          <a:xfrm>
            <a:off x="731520" y="1371600"/>
            <a:ext cx="768096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2"/>
          <p:cNvSpPr/>
          <p:nvPr/>
        </p:nvSpPr>
        <p:spPr>
          <a:xfrm>
            <a:off x="731520" y="2377440"/>
            <a:ext cx="7680960" cy="457200"/>
          </a:xfrm>
          <a:prstGeom prst="rect">
            <a:avLst/>
          </a:prstGeom>
          <a:noFill/>
          <a:ln/>
        </p:spPr>
        <p:txBody>
          <a:bodyPr wrap="square" lIns="0" tIns="0" rIns="0" bIns="0" rtlCol="0" anchor="ctr"/>
          <a:lstStyle/>
          <a:p>
            <a:pPr marL="0" indent="0" algn="ctr">
              <a:buNone/>
            </a:pPr>
            <a:endParaRPr lang="en-US" sz="2000" dirty="0"/>
          </a:p>
        </p:txBody>
      </p:sp>
      <p:sp>
        <p:nvSpPr>
          <p:cNvPr id="5" name="Text 3"/>
          <p:cNvSpPr/>
          <p:nvPr/>
        </p:nvSpPr>
        <p:spPr>
          <a:xfrm>
            <a:off x="731520" y="3474720"/>
            <a:ext cx="7680960" cy="457200"/>
          </a:xfrm>
          <a:prstGeom prst="rect">
            <a:avLst/>
          </a:prstGeom>
          <a:noFill/>
          <a:ln/>
        </p:spPr>
        <p:txBody>
          <a:bodyPr wrap="square" lIns="0" tIns="0" rIns="0" bIns="0" rtlCol="0" anchor="ctr"/>
          <a:lstStyle/>
          <a:p>
            <a:pPr marL="0" indent="0" algn="ctr">
              <a:buNone/>
            </a:pPr>
            <a:r>
              <a:rPr lang="en-US" sz="1400" dirty="0">
                <a:solidFill>
                  <a:srgbClr val="DBEAFE"/>
                </a:solidFill>
                <a:latin typeface="Calibri" pitchFamily="34" charset="0"/>
                <a:ea typeface="Calibri" pitchFamily="34" charset="-122"/>
                <a:cs typeface="Calibri" pitchFamily="34" charset="-120"/>
              </a:rPr>
              <a:t>Chris </a:t>
            </a:r>
            <a:r>
              <a:rPr lang="en-US" sz="1400" dirty="0" err="1">
                <a:solidFill>
                  <a:srgbClr val="DBEAFE"/>
                </a:solidFill>
                <a:latin typeface="Calibri" pitchFamily="34" charset="0"/>
                <a:ea typeface="Calibri" pitchFamily="34" charset="-122"/>
                <a:cs typeface="Calibri" pitchFamily="34" charset="-120"/>
              </a:rPr>
              <a:t>Tchinda</a:t>
            </a:r>
            <a:r>
              <a:rPr lang="en-US" sz="1400" dirty="0">
                <a:solidFill>
                  <a:srgbClr val="DBEAFE"/>
                </a:solidFill>
                <a:latin typeface="Calibri" pitchFamily="34" charset="0"/>
                <a:ea typeface="Calibri" pitchFamily="34" charset="-122"/>
                <a:cs typeface="Calibri" pitchFamily="34" charset="-120"/>
              </a:rPr>
              <a:t>  |  chrisdonald.tchinda@ensae.fr</a:t>
            </a:r>
            <a:endParaRPr lang="en-US" sz="1400" dirty="0"/>
          </a:p>
        </p:txBody>
      </p:sp>
      <p:sp>
        <p:nvSpPr>
          <p:cNvPr id="6" name="Shape 4"/>
          <p:cNvSpPr/>
          <p:nvPr/>
        </p:nvSpPr>
        <p:spPr>
          <a:xfrm>
            <a:off x="0" y="5088636"/>
            <a:ext cx="9144000" cy="54864"/>
          </a:xfrm>
          <a:prstGeom prst="rect">
            <a:avLst/>
          </a:prstGeom>
          <a:solidFill>
            <a:srgbClr val="3B82F6"/>
          </a:solidFill>
          <a:ln/>
        </p:spPr>
        <p:txBody>
          <a:bodyPr/>
          <a:lstStyle/>
          <a:p>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1957</Words>
  <Application>Microsoft Office PowerPoint</Application>
  <PresentationFormat>Affichage à l'écran (16:9)</PresentationFormat>
  <Paragraphs>266</Paragraphs>
  <Slides>17</Slides>
  <Notes>17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Default Risk Scoring</dc:title>
  <dc:subject>PptxGenJS Presentation</dc:subject>
  <dc:creator>Chris Le Roux</dc:creator>
  <cp:lastModifiedBy>Chris Donald TCHINDA</cp:lastModifiedBy>
  <cp:revision>1</cp:revision>
  <dcterms:created xsi:type="dcterms:W3CDTF">2026-05-20T19:48:51Z</dcterms:created>
  <dcterms:modified xsi:type="dcterms:W3CDTF">2026-05-20T20:15:29Z</dcterms:modified>
</cp:coreProperties>
</file>